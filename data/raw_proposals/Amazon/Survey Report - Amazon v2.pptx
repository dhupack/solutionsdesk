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3709" r:id="rId2"/>
  </p:sldMasterIdLst>
  <p:notesMasterIdLst>
    <p:notesMasterId r:id="rId13"/>
  </p:notesMasterIdLst>
  <p:sldIdLst>
    <p:sldId id="2146847507" r:id="rId3"/>
    <p:sldId id="2146847596" r:id="rId4"/>
    <p:sldId id="2146847599" r:id="rId5"/>
    <p:sldId id="2146847600" r:id="rId6"/>
    <p:sldId id="2146847598" r:id="rId7"/>
    <p:sldId id="2146847555" r:id="rId8"/>
    <p:sldId id="2146847516" r:id="rId9"/>
    <p:sldId id="2146847520" r:id="rId10"/>
    <p:sldId id="2146847519" r:id="rId11"/>
    <p:sldId id="214684753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B742"/>
    <a:srgbClr val="B2E3B1"/>
    <a:srgbClr val="75675D"/>
    <a:srgbClr val="EEF1F9"/>
    <a:srgbClr val="7E549A"/>
    <a:srgbClr val="FFB3B3"/>
    <a:srgbClr val="7D95D4"/>
    <a:srgbClr val="8BB8DA"/>
    <a:srgbClr val="75737D"/>
    <a:srgbClr val="27A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5165" autoAdjust="0"/>
  </p:normalViewPr>
  <p:slideViewPr>
    <p:cSldViewPr snapToGrid="0">
      <p:cViewPr varScale="1">
        <p:scale>
          <a:sx n="72" d="100"/>
          <a:sy n="72" d="100"/>
        </p:scale>
        <p:origin x="870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86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0B966-7339-4658-814C-91EF3CC0E189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D4684-C96B-4C31-887A-1631E4AD15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85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D4684-C96B-4C31-887A-1631E4AD15B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78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D4684-C96B-4C31-887A-1631E4AD15B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5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D4684-C96B-4C31-887A-1631E4AD15B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7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F0199-5C72-47BC-BE0D-0A1B1BB205EA}"/>
              </a:ext>
            </a:extLst>
          </p:cNvPr>
          <p:cNvSpPr/>
          <p:nvPr userDrawn="1"/>
        </p:nvSpPr>
        <p:spPr bwMode="white">
          <a:xfrm>
            <a:off x="0" y="4775200"/>
            <a:ext cx="12192000" cy="2082799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6" name="slidemaster_copyright">
            <a:extLst>
              <a:ext uri="{FF2B5EF4-FFF2-40B4-BE49-F238E27FC236}">
                <a16:creationId xmlns:a16="http://schemas.microsoft.com/office/drawing/2014/main" id="{4CCF9C83-B8E0-4E6F-AEB8-C402EB49BAE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D0280-6D68-4587-88A3-7A717007ABCA}"/>
              </a:ext>
            </a:extLst>
          </p:cNvPr>
          <p:cNvSpPr/>
          <p:nvPr userDrawn="1"/>
        </p:nvSpPr>
        <p:spPr>
          <a:xfrm>
            <a:off x="0" y="4692941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Graphic 8" descr="Truck with solid fill">
            <a:extLst>
              <a:ext uri="{FF2B5EF4-FFF2-40B4-BE49-F238E27FC236}">
                <a16:creationId xmlns:a16="http://schemas.microsoft.com/office/drawing/2014/main" id="{EDD5E4DB-ADF3-4692-BC1A-0F5F566B55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4974" y="4287734"/>
            <a:ext cx="506716" cy="506716"/>
          </a:xfrm>
          <a:prstGeom prst="rect">
            <a:avLst/>
          </a:prstGeom>
        </p:spPr>
      </p:pic>
      <p:pic>
        <p:nvPicPr>
          <p:cNvPr id="10" name="Graphic 9" descr="Truck with solid fill">
            <a:extLst>
              <a:ext uri="{FF2B5EF4-FFF2-40B4-BE49-F238E27FC236}">
                <a16:creationId xmlns:a16="http://schemas.microsoft.com/office/drawing/2014/main" id="{1B0C01BD-46C9-4A46-9A15-C8BD53A3EC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248" y="4287734"/>
            <a:ext cx="506716" cy="506716"/>
          </a:xfrm>
          <a:prstGeom prst="rect">
            <a:avLst/>
          </a:prstGeom>
        </p:spPr>
      </p:pic>
      <p:pic>
        <p:nvPicPr>
          <p:cNvPr id="11" name="Graphic 10" descr="Truck with solid fill">
            <a:extLst>
              <a:ext uri="{FF2B5EF4-FFF2-40B4-BE49-F238E27FC236}">
                <a16:creationId xmlns:a16="http://schemas.microsoft.com/office/drawing/2014/main" id="{128609F5-D962-4909-BE8C-EFC6767AA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8258" y="4287734"/>
            <a:ext cx="506716" cy="506716"/>
          </a:xfrm>
          <a:prstGeom prst="rect">
            <a:avLst/>
          </a:prstGeom>
        </p:spPr>
      </p:pic>
      <p:pic>
        <p:nvPicPr>
          <p:cNvPr id="12" name="image4.png">
            <a:extLst>
              <a:ext uri="{FF2B5EF4-FFF2-40B4-BE49-F238E27FC236}">
                <a16:creationId xmlns:a16="http://schemas.microsoft.com/office/drawing/2014/main" id="{30C93B40-93C2-430E-ADF3-F2AEE874203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64995" y="1481891"/>
            <a:ext cx="7262008" cy="171400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27649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j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8236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0199-5C72-47BC-BE0D-0A1B1BB205EA}"/>
              </a:ext>
            </a:extLst>
          </p:cNvPr>
          <p:cNvSpPr/>
          <p:nvPr userDrawn="1"/>
        </p:nvSpPr>
        <p:spPr bwMode="white">
          <a:xfrm>
            <a:off x="0" y="1"/>
            <a:ext cx="12192000" cy="690562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0A5E1-2D5C-45D5-802C-ED41219D6DD0}"/>
              </a:ext>
            </a:extLst>
          </p:cNvPr>
          <p:cNvSpPr txBox="1"/>
          <p:nvPr userDrawn="1"/>
        </p:nvSpPr>
        <p:spPr>
          <a:xfrm>
            <a:off x="4968238" y="6198864"/>
            <a:ext cx="1914525" cy="5048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www.axestrack.com</a:t>
            </a:r>
          </a:p>
        </p:txBody>
      </p:sp>
      <p:pic>
        <p:nvPicPr>
          <p:cNvPr id="7" name="image4.png">
            <a:extLst>
              <a:ext uri="{FF2B5EF4-FFF2-40B4-BE49-F238E27FC236}">
                <a16:creationId xmlns:a16="http://schemas.microsoft.com/office/drawing/2014/main" id="{175A3776-DE59-4388-9DCE-3A0CB38AF0F2}"/>
              </a:ext>
            </a:extLst>
          </p:cNvPr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7809" y="2808864"/>
            <a:ext cx="5456382" cy="128789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1381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F0199-5C72-47BC-BE0D-0A1B1BB205EA}"/>
              </a:ext>
            </a:extLst>
          </p:cNvPr>
          <p:cNvSpPr/>
          <p:nvPr userDrawn="1"/>
        </p:nvSpPr>
        <p:spPr bwMode="white">
          <a:xfrm>
            <a:off x="0" y="4775200"/>
            <a:ext cx="12192000" cy="2082799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6" name="slidemaster_copyright">
            <a:extLst>
              <a:ext uri="{FF2B5EF4-FFF2-40B4-BE49-F238E27FC236}">
                <a16:creationId xmlns:a16="http://schemas.microsoft.com/office/drawing/2014/main" id="{4CCF9C83-B8E0-4E6F-AEB8-C402EB49BAE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D0280-6D68-4587-88A3-7A717007ABCA}"/>
              </a:ext>
            </a:extLst>
          </p:cNvPr>
          <p:cNvSpPr/>
          <p:nvPr userDrawn="1"/>
        </p:nvSpPr>
        <p:spPr>
          <a:xfrm>
            <a:off x="0" y="4692941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Graphic 8" descr="Truck with solid fill">
            <a:extLst>
              <a:ext uri="{FF2B5EF4-FFF2-40B4-BE49-F238E27FC236}">
                <a16:creationId xmlns:a16="http://schemas.microsoft.com/office/drawing/2014/main" id="{EDD5E4DB-ADF3-4692-BC1A-0F5F566B55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4974" y="4287734"/>
            <a:ext cx="506716" cy="506716"/>
          </a:xfrm>
          <a:prstGeom prst="rect">
            <a:avLst/>
          </a:prstGeom>
        </p:spPr>
      </p:pic>
      <p:pic>
        <p:nvPicPr>
          <p:cNvPr id="10" name="Graphic 9" descr="Truck with solid fill">
            <a:extLst>
              <a:ext uri="{FF2B5EF4-FFF2-40B4-BE49-F238E27FC236}">
                <a16:creationId xmlns:a16="http://schemas.microsoft.com/office/drawing/2014/main" id="{1B0C01BD-46C9-4A46-9A15-C8BD53A3EC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248" y="4287734"/>
            <a:ext cx="506716" cy="506716"/>
          </a:xfrm>
          <a:prstGeom prst="rect">
            <a:avLst/>
          </a:prstGeom>
        </p:spPr>
      </p:pic>
      <p:pic>
        <p:nvPicPr>
          <p:cNvPr id="11" name="Graphic 10" descr="Truck with solid fill">
            <a:extLst>
              <a:ext uri="{FF2B5EF4-FFF2-40B4-BE49-F238E27FC236}">
                <a16:creationId xmlns:a16="http://schemas.microsoft.com/office/drawing/2014/main" id="{128609F5-D962-4909-BE8C-EFC6767AA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8258" y="4287734"/>
            <a:ext cx="506716" cy="506716"/>
          </a:xfrm>
          <a:prstGeom prst="rect">
            <a:avLst/>
          </a:prstGeom>
        </p:spPr>
      </p:pic>
      <p:pic>
        <p:nvPicPr>
          <p:cNvPr id="13" name="image4.png">
            <a:extLst>
              <a:ext uri="{FF2B5EF4-FFF2-40B4-BE49-F238E27FC236}">
                <a16:creationId xmlns:a16="http://schemas.microsoft.com/office/drawing/2014/main" id="{31E58317-4A04-47E3-A40E-AA2F8148CA4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2484" y="1119041"/>
            <a:ext cx="8787030" cy="20739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5251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Project name</a:t>
            </a:r>
            <a:br>
              <a:rPr lang="en-US" dirty="0"/>
            </a:b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(Arial36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Prepared for Client Name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Office and contact number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16" name="image4.png">
            <a:extLst>
              <a:ext uri="{FF2B5EF4-FFF2-40B4-BE49-F238E27FC236}">
                <a16:creationId xmlns:a16="http://schemas.microsoft.com/office/drawing/2014/main" id="{F07A92B3-6E10-49D1-AAFD-98EFB6AFB7C2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3620" y="511179"/>
            <a:ext cx="3726782" cy="8796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00142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j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2711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section title </a:t>
            </a:r>
            <a:br>
              <a:rPr lang="en-US" dirty="0"/>
            </a:br>
            <a:r>
              <a:rPr lang="en-US" dirty="0"/>
              <a:t>(Arial 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618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latin typeface="+mj-lt"/>
              </a:defRPr>
            </a:lvl1pPr>
          </a:lstStyle>
          <a:p>
            <a:r>
              <a:rPr lang="en-US" dirty="0"/>
              <a:t>Click to add title (Arial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tx1"/>
                </a:solidFill>
                <a:latin typeface="+mj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j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j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373368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6373368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tx1"/>
                </a:solidFill>
                <a:latin typeface="+mj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j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j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bg object 17">
            <a:extLst>
              <a:ext uri="{FF2B5EF4-FFF2-40B4-BE49-F238E27FC236}">
                <a16:creationId xmlns:a16="http://schemas.microsoft.com/office/drawing/2014/main" id="{B9977B09-D2F1-4EC2-914F-B9F0616E2D0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15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6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tx1"/>
                </a:solidFill>
                <a:latin typeface="+mj-lt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5BE2E5-D465-48D9-812D-B3E2431999E2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87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master_filename2">
            <a:extLst>
              <a:ext uri="{FF2B5EF4-FFF2-40B4-BE49-F238E27FC236}">
                <a16:creationId xmlns:a16="http://schemas.microsoft.com/office/drawing/2014/main" id="{5ECBAB0E-06DC-40D5-A402-652460194265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7EC31-2BFF-4DCF-B51C-17764D8EE8EE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720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738664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</a:t>
            </a:r>
            <a:br>
              <a:rPr lang="en-US" dirty="0"/>
            </a:br>
            <a:r>
              <a:rPr lang="en-US" dirty="0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>
              <a:latin typeface="+mj-lt"/>
            </a:endParaRP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9917129" y="6544205"/>
            <a:ext cx="1256755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>
                <a:solidFill>
                  <a:srgbClr val="A3A1A8"/>
                </a:solidFill>
                <a:latin typeface="+mj-lt"/>
              </a:rPr>
              <a:t>© 2025 AT | Confidential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  <a:latin typeface="+mj-lt"/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j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bg object 17">
            <a:extLst>
              <a:ext uri="{FF2B5EF4-FFF2-40B4-BE49-F238E27FC236}">
                <a16:creationId xmlns:a16="http://schemas.microsoft.com/office/drawing/2014/main" id="{F7AFD104-7EA1-45B3-A680-32336961C205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12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48DD2-80F0-4B6A-B2C3-1845D5846D6F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>
              <a:latin typeface="+mj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738664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</a:t>
            </a:r>
            <a:br>
              <a:rPr lang="en-US" dirty="0"/>
            </a:br>
            <a:r>
              <a:rPr lang="en-US" dirty="0"/>
              <a:t>32 pt)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2"/>
                </a:solidFill>
                <a:latin typeface="+mj-lt"/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 (Arial 18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slidemaster_copyright2">
            <a:extLst>
              <a:ext uri="{FF2B5EF4-FFF2-40B4-BE49-F238E27FC236}">
                <a16:creationId xmlns:a16="http://schemas.microsoft.com/office/drawing/2014/main" id="{50726B51-94B7-4DB5-B23A-BF6997C3CA5B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9917129" y="6544205"/>
            <a:ext cx="1256755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>
                <a:solidFill>
                  <a:srgbClr val="A3A1A8"/>
                </a:solidFill>
                <a:latin typeface="+mj-lt"/>
              </a:rPr>
              <a:t>© 2025 AT |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C33B5-EC8A-48CE-AE62-7F7713914344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9E87E40-A7B9-4507-8366-FDB1488CF7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  <a:latin typeface="+mj-lt"/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2F6A7-9F61-4869-87DE-CC94F3570C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j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42257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1" y="0"/>
            <a:ext cx="4148488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10" name="bg object 17">
            <a:extLst>
              <a:ext uri="{FF2B5EF4-FFF2-40B4-BE49-F238E27FC236}">
                <a16:creationId xmlns:a16="http://schemas.microsoft.com/office/drawing/2014/main" id="{C3479DC3-6850-493B-8073-FB0DCDC946D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A55831-B153-4942-9E38-22FDA3028550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348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6224F0-EF89-4E5D-B935-8BAD4B0ACC7F}"/>
              </a:ext>
            </a:extLst>
          </p:cNvPr>
          <p:cNvSpPr/>
          <p:nvPr userDrawn="1"/>
        </p:nvSpPr>
        <p:spPr bwMode="white">
          <a:xfrm>
            <a:off x="0" y="52388"/>
            <a:ext cx="12192000" cy="6853237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3" name="bg object 17">
            <a:extLst>
              <a:ext uri="{FF2B5EF4-FFF2-40B4-BE49-F238E27FC236}">
                <a16:creationId xmlns:a16="http://schemas.microsoft.com/office/drawing/2014/main" id="{F753F7F9-DF98-4992-9D5D-A49F9339DC9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02228"/>
            <a:ext cx="661194" cy="837823"/>
          </a:xfrm>
          <a:prstGeom prst="rect">
            <a:avLst/>
          </a:prstGeom>
        </p:spPr>
      </p:pic>
      <p:sp>
        <p:nvSpPr>
          <p:cNvPr id="4" name="slidemaster_copyright">
            <a:extLst>
              <a:ext uri="{FF2B5EF4-FFF2-40B4-BE49-F238E27FC236}">
                <a16:creationId xmlns:a16="http://schemas.microsoft.com/office/drawing/2014/main" id="{80D231CE-7A14-4A52-BFC6-FA90878416D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  <p:sp>
        <p:nvSpPr>
          <p:cNvPr id="5" name="slidemaster_pagenumber">
            <a:extLst>
              <a:ext uri="{FF2B5EF4-FFF2-40B4-BE49-F238E27FC236}">
                <a16:creationId xmlns:a16="http://schemas.microsoft.com/office/drawing/2014/main" id="{9CE93F0F-5D29-4C2C-8049-01A86DF40C1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chemeClr val="bg1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234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9D81F-4BBD-4D9F-A5FA-AEFC7D150C68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773C0-1A19-45DA-A1E1-92D6BE2495E2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4589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0199-5C72-47BC-BE0D-0A1B1BB205EA}"/>
              </a:ext>
            </a:extLst>
          </p:cNvPr>
          <p:cNvSpPr/>
          <p:nvPr userDrawn="1"/>
        </p:nvSpPr>
        <p:spPr bwMode="white">
          <a:xfrm>
            <a:off x="0" y="1"/>
            <a:ext cx="12192000" cy="690562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0A5E1-2D5C-45D5-802C-ED41219D6DD0}"/>
              </a:ext>
            </a:extLst>
          </p:cNvPr>
          <p:cNvSpPr txBox="1"/>
          <p:nvPr userDrawn="1"/>
        </p:nvSpPr>
        <p:spPr>
          <a:xfrm>
            <a:off x="4968238" y="6198864"/>
            <a:ext cx="1914525" cy="5048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www.axestrack.com</a:t>
            </a:r>
          </a:p>
        </p:txBody>
      </p:sp>
      <p:pic>
        <p:nvPicPr>
          <p:cNvPr id="8" name="image4.png">
            <a:extLst>
              <a:ext uri="{FF2B5EF4-FFF2-40B4-BE49-F238E27FC236}">
                <a16:creationId xmlns:a16="http://schemas.microsoft.com/office/drawing/2014/main" id="{3FAEDDB9-AE4F-46BE-8AA4-6D13A25C647E}"/>
              </a:ext>
            </a:extLst>
          </p:cNvPr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7809" y="2808864"/>
            <a:ext cx="5456382" cy="128789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60883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0199-5C72-47BC-BE0D-0A1B1BB205EA}"/>
              </a:ext>
            </a:extLst>
          </p:cNvPr>
          <p:cNvSpPr/>
          <p:nvPr userDrawn="1"/>
        </p:nvSpPr>
        <p:spPr bwMode="white">
          <a:xfrm>
            <a:off x="0" y="1"/>
            <a:ext cx="12192000" cy="690562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0A5E1-2D5C-45D5-802C-ED41219D6DD0}"/>
              </a:ext>
            </a:extLst>
          </p:cNvPr>
          <p:cNvSpPr txBox="1"/>
          <p:nvPr userDrawn="1"/>
        </p:nvSpPr>
        <p:spPr>
          <a:xfrm>
            <a:off x="4968238" y="6198864"/>
            <a:ext cx="1914525" cy="2211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www.axestrack.com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C43BD-DE73-4151-A93E-5D5790E5E205}"/>
              </a:ext>
            </a:extLst>
          </p:cNvPr>
          <p:cNvSpPr txBox="1"/>
          <p:nvPr userDrawn="1"/>
        </p:nvSpPr>
        <p:spPr>
          <a:xfrm>
            <a:off x="903473" y="6421146"/>
            <a:ext cx="10044055" cy="21899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</a:lstStyle>
          <a:p>
            <a:pPr lvl="1" algn="ctr"/>
            <a:r>
              <a:rPr lang="en-US" sz="1050" b="1" i="1" noProof="0" dirty="0">
                <a:solidFill>
                  <a:schemeClr val="bg1"/>
                </a:solidFill>
              </a:rPr>
              <a:t>Corporate HQ : </a:t>
            </a:r>
            <a:r>
              <a:rPr lang="en-US" sz="1050" i="1" noProof="0" dirty="0">
                <a:solidFill>
                  <a:schemeClr val="bg1"/>
                </a:solidFill>
              </a:rPr>
              <a:t>Office No.-19, 6</a:t>
            </a:r>
            <a:r>
              <a:rPr lang="en-US" sz="1050" i="1" baseline="30000" noProof="0" dirty="0">
                <a:solidFill>
                  <a:schemeClr val="bg1"/>
                </a:solidFill>
              </a:rPr>
              <a:t>th</a:t>
            </a:r>
            <a:r>
              <a:rPr lang="en-US" sz="1050" i="1" noProof="0" dirty="0">
                <a:solidFill>
                  <a:schemeClr val="bg1"/>
                </a:solidFill>
              </a:rPr>
              <a:t> Floor, Jaipur Electronic Market, Near Riddhi Siddhi, Gopalpura bypass, Jaipur - 302018 , Rajasthan, India</a:t>
            </a:r>
          </a:p>
        </p:txBody>
      </p:sp>
      <p:pic>
        <p:nvPicPr>
          <p:cNvPr id="8" name="image4.png">
            <a:extLst>
              <a:ext uri="{FF2B5EF4-FFF2-40B4-BE49-F238E27FC236}">
                <a16:creationId xmlns:a16="http://schemas.microsoft.com/office/drawing/2014/main" id="{3168D149-767F-4CFD-ADC7-F63A179F2563}"/>
              </a:ext>
            </a:extLst>
          </p:cNvPr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7809" y="2808864"/>
            <a:ext cx="5456382" cy="128789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094664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6E0CE6-60C1-47A7-9D78-6E387924CE6E}"/>
              </a:ext>
            </a:extLst>
          </p:cNvPr>
          <p:cNvSpPr/>
          <p:nvPr userDrawn="1"/>
        </p:nvSpPr>
        <p:spPr bwMode="white">
          <a:xfrm>
            <a:off x="7332343" y="4195482"/>
            <a:ext cx="4859657" cy="2662517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pt)</a:t>
            </a:r>
          </a:p>
        </p:txBody>
      </p:sp>
      <p:sp>
        <p:nvSpPr>
          <p:cNvPr id="7" name="slidemaster_copyright">
            <a:extLst>
              <a:ext uri="{FF2B5EF4-FFF2-40B4-BE49-F238E27FC236}">
                <a16:creationId xmlns:a16="http://schemas.microsoft.com/office/drawing/2014/main" id="{C738FF80-E940-4C9D-8998-7D9E322885D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  <p:sp>
        <p:nvSpPr>
          <p:cNvPr id="8" name="slidemaster_pagenumber">
            <a:extLst>
              <a:ext uri="{FF2B5EF4-FFF2-40B4-BE49-F238E27FC236}">
                <a16:creationId xmlns:a16="http://schemas.microsoft.com/office/drawing/2014/main" id="{B1013378-B642-4D33-B238-9F2ADF5474A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chemeClr val="bg1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64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3693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Copyright © 2025 Axestrack | Confidential 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8" name="bg object 17">
            <a:extLst>
              <a:ext uri="{FF2B5EF4-FFF2-40B4-BE49-F238E27FC236}">
                <a16:creationId xmlns:a16="http://schemas.microsoft.com/office/drawing/2014/main" id="{6F3D0E38-08D5-41F7-95D8-01A93C44420B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316087" y="202228"/>
            <a:ext cx="661194" cy="8378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3B9694-D0A0-4F6D-8AFE-B1F5A32E3664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B96077-A3D5-4A41-B0F9-A6E6820C7FB8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704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8" r:id="rId2"/>
    <p:sldLayoutId id="2147483707" r:id="rId3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bg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3693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Copyright © 2025 Axestrack | Confidential 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8" name="bg object 17">
            <a:extLst>
              <a:ext uri="{FF2B5EF4-FFF2-40B4-BE49-F238E27FC236}">
                <a16:creationId xmlns:a16="http://schemas.microsoft.com/office/drawing/2014/main" id="{6F3D0E38-08D5-41F7-95D8-01A93C44420B}"/>
              </a:ext>
            </a:extLst>
          </p:cNvPr>
          <p:cNvPicPr/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11316087" y="202228"/>
            <a:ext cx="661194" cy="8378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3B9694-D0A0-4F6D-8AFE-B1F5A32E3664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B96077-A3D5-4A41-B0F9-A6E6820C7FB8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41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bg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microsoft.com/office/2007/relationships/hdphoto" Target="../media/hdphoto2.wdp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0356B8-39FA-423F-8F7E-B9A8718E9DA8}"/>
              </a:ext>
            </a:extLst>
          </p:cNvPr>
          <p:cNvSpPr txBox="1"/>
          <p:nvPr/>
        </p:nvSpPr>
        <p:spPr>
          <a:xfrm>
            <a:off x="-238125" y="4649787"/>
            <a:ext cx="914400" cy="914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DF833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4DBD8-BFE8-4BB7-998D-CD3606C2E22E}"/>
              </a:ext>
            </a:extLst>
          </p:cNvPr>
          <p:cNvSpPr txBox="1"/>
          <p:nvPr/>
        </p:nvSpPr>
        <p:spPr>
          <a:xfrm>
            <a:off x="2428875" y="5389163"/>
            <a:ext cx="7199219" cy="35004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Survey Report </a:t>
            </a:r>
            <a:endParaRPr lang="en-US" b="1" dirty="0">
              <a:solidFill>
                <a:schemeClr val="bg1"/>
              </a:solidFill>
              <a:latin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Safety &amp; Compliance Assessment at Amazon Sorting Warehouse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A4747-0B63-46CC-A6A5-27D59130E3B7}"/>
              </a:ext>
            </a:extLst>
          </p:cNvPr>
          <p:cNvSpPr txBox="1"/>
          <p:nvPr/>
        </p:nvSpPr>
        <p:spPr>
          <a:xfrm>
            <a:off x="914400" y="6477000"/>
            <a:ext cx="1514475" cy="2381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35FB35-1A05-4852-A246-1FB44BD8562D}" type="datetime4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June 26, 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40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B8837A-814C-4C1F-BEB0-35F547288EE4}"/>
              </a:ext>
            </a:extLst>
          </p:cNvPr>
          <p:cNvSpPr/>
          <p:nvPr/>
        </p:nvSpPr>
        <p:spPr>
          <a:xfrm>
            <a:off x="8554720" y="1259840"/>
            <a:ext cx="3085592" cy="5008880"/>
          </a:xfrm>
          <a:prstGeom prst="roundRect">
            <a:avLst>
              <a:gd name="adj" fmla="val 4813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9DD86-30AB-43A1-80DB-144F0F85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9768"/>
            <a:ext cx="11091672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>
                <a:latin typeface="+mj-lt"/>
              </a:rPr>
              <a:t>Survey Objective – Amazon Warehouse Safety &amp; Compliance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31AD8C8-0D1C-472D-8BAB-A1D09DB3628E}"/>
              </a:ext>
            </a:extLst>
          </p:cNvPr>
          <p:cNvGrpSpPr/>
          <p:nvPr/>
        </p:nvGrpSpPr>
        <p:grpSpPr>
          <a:xfrm>
            <a:off x="663676" y="1513849"/>
            <a:ext cx="7010111" cy="818030"/>
            <a:chOff x="663676" y="1980015"/>
            <a:chExt cx="7010111" cy="81803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BE10737-086F-4AA5-92E4-E02A6F034068}"/>
                </a:ext>
              </a:extLst>
            </p:cNvPr>
            <p:cNvSpPr/>
            <p:nvPr/>
          </p:nvSpPr>
          <p:spPr>
            <a:xfrm>
              <a:off x="663676" y="2051373"/>
              <a:ext cx="447063" cy="44706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r>
                <a:rPr lang="en-IN" sz="1600" b="1" dirty="0"/>
                <a:t>1</a:t>
              </a:r>
              <a:endParaRPr lang="en-US" sz="1600" b="1" dirty="0" err="1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73D90EC-D830-4F66-95D9-64DEC4365EAF}"/>
                </a:ext>
              </a:extLst>
            </p:cNvPr>
            <p:cNvGrpSpPr/>
            <p:nvPr/>
          </p:nvGrpSpPr>
          <p:grpSpPr>
            <a:xfrm>
              <a:off x="1456166" y="1980015"/>
              <a:ext cx="6217621" cy="818030"/>
              <a:chOff x="1648460" y="1071729"/>
              <a:chExt cx="5064760" cy="818030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F1F0377-E666-453B-B5DC-54AE254C4B50}"/>
                  </a:ext>
                </a:extLst>
              </p:cNvPr>
              <p:cNvSpPr txBox="1"/>
              <p:nvPr/>
            </p:nvSpPr>
            <p:spPr>
              <a:xfrm>
                <a:off x="1648460" y="1071729"/>
                <a:ext cx="3898900" cy="369332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l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b="1" dirty="0">
                    <a:solidFill>
                      <a:schemeClr val="accent4"/>
                    </a:solidFill>
                  </a:rPr>
                  <a:t>Assessment Focus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CB228C8-92D6-4B44-A35F-E993046B6FB9}"/>
                  </a:ext>
                </a:extLst>
              </p:cNvPr>
              <p:cNvSpPr txBox="1"/>
              <p:nvPr/>
            </p:nvSpPr>
            <p:spPr>
              <a:xfrm>
                <a:off x="1648460" y="1439614"/>
                <a:ext cx="5064760" cy="450145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71450" indent="-171450" algn="l"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Evaluate current safety and compliance processes in in-warehouse vehicle movement</a:t>
                </a:r>
              </a:p>
              <a:p>
                <a:pPr marL="171450" indent="-171450" algn="l"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Identify manual dependencies, risks, and lack of traceability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E060A6-28E9-48FB-8899-10143CE08284}"/>
              </a:ext>
            </a:extLst>
          </p:cNvPr>
          <p:cNvGrpSpPr/>
          <p:nvPr/>
        </p:nvGrpSpPr>
        <p:grpSpPr>
          <a:xfrm>
            <a:off x="663676" y="3219148"/>
            <a:ext cx="7010111" cy="818030"/>
            <a:chOff x="663676" y="3268454"/>
            <a:chExt cx="7010111" cy="81803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202EA58-2CC0-4C81-91C2-9956930BCD48}"/>
                </a:ext>
              </a:extLst>
            </p:cNvPr>
            <p:cNvSpPr/>
            <p:nvPr/>
          </p:nvSpPr>
          <p:spPr>
            <a:xfrm>
              <a:off x="663676" y="3268454"/>
              <a:ext cx="447063" cy="44706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r>
                <a:rPr lang="en-IN" sz="1600" b="1" dirty="0"/>
                <a:t>2</a:t>
              </a:r>
              <a:endParaRPr lang="en-US" sz="1600" b="1" dirty="0" err="1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67791D4-A9EA-4635-85DD-703F2A306A94}"/>
                </a:ext>
              </a:extLst>
            </p:cNvPr>
            <p:cNvGrpSpPr/>
            <p:nvPr/>
          </p:nvGrpSpPr>
          <p:grpSpPr>
            <a:xfrm>
              <a:off x="1456166" y="3268454"/>
              <a:ext cx="6217621" cy="818030"/>
              <a:chOff x="1648460" y="1071729"/>
              <a:chExt cx="5064760" cy="818030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0A5CB36-9B06-4794-9360-6BF50A97B611}"/>
                  </a:ext>
                </a:extLst>
              </p:cNvPr>
              <p:cNvSpPr txBox="1"/>
              <p:nvPr/>
            </p:nvSpPr>
            <p:spPr>
              <a:xfrm>
                <a:off x="1648460" y="1071729"/>
                <a:ext cx="3898900" cy="369332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l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b="1" dirty="0">
                    <a:solidFill>
                      <a:schemeClr val="accent4"/>
                    </a:solidFill>
                  </a:rPr>
                  <a:t>Gap Identification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02D2CF0-92BF-4D5B-8C6D-26EF4AF29AB1}"/>
                  </a:ext>
                </a:extLst>
              </p:cNvPr>
              <p:cNvSpPr txBox="1"/>
              <p:nvPr/>
            </p:nvSpPr>
            <p:spPr>
              <a:xfrm>
                <a:off x="1648460" y="1439614"/>
                <a:ext cx="5064760" cy="450145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71450" indent="-171450" algn="l"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Highlight areas with missing audit trail, unstructured escalation, and non-standardized compliance checks</a:t>
                </a:r>
              </a:p>
              <a:p>
                <a:pPr marL="171450" indent="-171450" algn="l"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Observe gaps in vehicle, driver, seal, and dock-side safety validation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DAB7772-5809-45AE-9661-916DEBD01429}"/>
              </a:ext>
            </a:extLst>
          </p:cNvPr>
          <p:cNvGrpSpPr/>
          <p:nvPr/>
        </p:nvGrpSpPr>
        <p:grpSpPr>
          <a:xfrm>
            <a:off x="663676" y="4924447"/>
            <a:ext cx="7010111" cy="818030"/>
            <a:chOff x="663676" y="4556893"/>
            <a:chExt cx="7010111" cy="81803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500D319-A99A-4564-8CAE-9610AA08CB6B}"/>
                </a:ext>
              </a:extLst>
            </p:cNvPr>
            <p:cNvSpPr/>
            <p:nvPr/>
          </p:nvSpPr>
          <p:spPr>
            <a:xfrm>
              <a:off x="663676" y="4556893"/>
              <a:ext cx="447063" cy="44706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r>
                <a:rPr lang="en-IN" sz="1600" b="1" dirty="0"/>
                <a:t>3</a:t>
              </a:r>
              <a:endParaRPr lang="en-US" sz="1600" b="1" dirty="0" err="1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12C7E85-125C-4169-8A18-FD0764338C7E}"/>
                </a:ext>
              </a:extLst>
            </p:cNvPr>
            <p:cNvGrpSpPr/>
            <p:nvPr/>
          </p:nvGrpSpPr>
          <p:grpSpPr>
            <a:xfrm>
              <a:off x="1456166" y="4556893"/>
              <a:ext cx="6217621" cy="818030"/>
              <a:chOff x="1648460" y="1071729"/>
              <a:chExt cx="5064760" cy="818030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75652C6-4F23-4089-99E3-361C8083FAEC}"/>
                  </a:ext>
                </a:extLst>
              </p:cNvPr>
              <p:cNvSpPr txBox="1"/>
              <p:nvPr/>
            </p:nvSpPr>
            <p:spPr>
              <a:xfrm>
                <a:off x="1648460" y="1071729"/>
                <a:ext cx="3898900" cy="369332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l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b="1" dirty="0">
                    <a:solidFill>
                      <a:schemeClr val="accent4"/>
                    </a:solidFill>
                  </a:rPr>
                  <a:t>Digital Transformation Goal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03FFA3-7BA5-4883-BBD6-9452786618E8}"/>
                  </a:ext>
                </a:extLst>
              </p:cNvPr>
              <p:cNvSpPr txBox="1"/>
              <p:nvPr/>
            </p:nvSpPr>
            <p:spPr>
              <a:xfrm>
                <a:off x="1648460" y="1439614"/>
                <a:ext cx="5064760" cy="450145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71450" indent="-171450" algn="l"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Propose a </a:t>
                </a:r>
                <a:r>
                  <a:rPr lang="en-US" sz="1200" dirty="0" smtClean="0"/>
                  <a:t>tech enabled digital solution </a:t>
                </a:r>
                <a:r>
                  <a:rPr lang="en-US" sz="1200" dirty="0"/>
                  <a:t>to </a:t>
                </a:r>
                <a:r>
                  <a:rPr lang="en-US" sz="1200" dirty="0" smtClean="0"/>
                  <a:t>enhance safety &amp; enforce </a:t>
                </a:r>
                <a:r>
                  <a:rPr lang="en-US" sz="1200" dirty="0"/>
                  <a:t>compliance</a:t>
                </a:r>
              </a:p>
              <a:p>
                <a:pPr marL="171450" indent="-171450" algn="l"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Replace manual checks with API-based validations and mobile-enabled audits</a:t>
                </a:r>
              </a:p>
            </p:txBody>
          </p:sp>
        </p:grp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E558D18-6B2B-48BA-A98B-4E42140D8B3E}"/>
              </a:ext>
            </a:extLst>
          </p:cNvPr>
          <p:cNvCxnSpPr>
            <a:cxnSpLocks/>
          </p:cNvCxnSpPr>
          <p:nvPr/>
        </p:nvCxnSpPr>
        <p:spPr>
          <a:xfrm>
            <a:off x="1220998" y="2763671"/>
            <a:ext cx="5430814" cy="23685"/>
          </a:xfrm>
          <a:prstGeom prst="line">
            <a:avLst/>
          </a:prstGeom>
          <a:ln w="9525" cap="rnd">
            <a:solidFill>
              <a:schemeClr val="bg1">
                <a:lumMod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89D754B-1629-497D-A011-D96297DCCE71}"/>
              </a:ext>
            </a:extLst>
          </p:cNvPr>
          <p:cNvCxnSpPr>
            <a:cxnSpLocks/>
          </p:cNvCxnSpPr>
          <p:nvPr/>
        </p:nvCxnSpPr>
        <p:spPr>
          <a:xfrm>
            <a:off x="1220998" y="4468970"/>
            <a:ext cx="5430814" cy="23685"/>
          </a:xfrm>
          <a:prstGeom prst="line">
            <a:avLst/>
          </a:prstGeom>
          <a:ln w="9525" cap="rnd">
            <a:solidFill>
              <a:schemeClr val="bg1">
                <a:lumMod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454193CC-ABA3-4E37-8654-E9289A0719DC}"/>
              </a:ext>
            </a:extLst>
          </p:cNvPr>
          <p:cNvSpPr/>
          <p:nvPr/>
        </p:nvSpPr>
        <p:spPr>
          <a:xfrm rot="5400000">
            <a:off x="7863894" y="3466799"/>
            <a:ext cx="512648" cy="393658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A46AFAA-85A0-474B-B9BC-CE39BC109B48}"/>
              </a:ext>
            </a:extLst>
          </p:cNvPr>
          <p:cNvSpPr txBox="1"/>
          <p:nvPr/>
        </p:nvSpPr>
        <p:spPr>
          <a:xfrm>
            <a:off x="9053458" y="3440569"/>
            <a:ext cx="2164701" cy="36933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chemeClr val="accent1"/>
                </a:solidFill>
              </a:rPr>
              <a:t>Outcome Expectation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B91CCC-B1F2-4D63-A424-A035007D5722}"/>
              </a:ext>
            </a:extLst>
          </p:cNvPr>
          <p:cNvSpPr txBox="1"/>
          <p:nvPr/>
        </p:nvSpPr>
        <p:spPr>
          <a:xfrm>
            <a:off x="8743297" y="4124596"/>
            <a:ext cx="2785025" cy="175178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 anchor="t" anchorCtr="0">
            <a:noAutofit/>
          </a:bodyPr>
          <a:lstStyle/>
          <a:p>
            <a:pPr marL="171450" indent="-17145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Achieve SOP standardization, real-time visibility, SLA-based escalation, and field-level safety empowerment</a:t>
            </a:r>
          </a:p>
          <a:p>
            <a:pPr marL="171450" indent="-17145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Build a command-grade, audit-ready logistics ecosystem</a:t>
            </a:r>
          </a:p>
          <a:p>
            <a:pPr marL="171450" indent="-17145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Strengthen safety governance through proactive monitoring, surprise audits, and incident accountability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FB3C57B-DB18-42FD-95ED-1CB5F3CA095E}"/>
              </a:ext>
            </a:extLst>
          </p:cNvPr>
          <p:cNvGrpSpPr/>
          <p:nvPr/>
        </p:nvGrpSpPr>
        <p:grpSpPr>
          <a:xfrm>
            <a:off x="9355151" y="1496970"/>
            <a:ext cx="1615851" cy="1722178"/>
            <a:chOff x="7934960" y="1798514"/>
            <a:chExt cx="2862580" cy="3356039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8650F88C-32EF-4A5E-99C5-6088B64C6278}"/>
                </a:ext>
              </a:extLst>
            </p:cNvPr>
            <p:cNvSpPr/>
            <p:nvPr/>
          </p:nvSpPr>
          <p:spPr>
            <a:xfrm>
              <a:off x="7934960" y="1978515"/>
              <a:ext cx="2458720" cy="2748834"/>
            </a:xfrm>
            <a:prstGeom prst="roundRect">
              <a:avLst>
                <a:gd name="adj" fmla="val 9120"/>
              </a:avLst>
            </a:pr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134AA764-0BC9-4D23-80BB-573AEFAA49DC}"/>
                </a:ext>
              </a:extLst>
            </p:cNvPr>
            <p:cNvSpPr/>
            <p:nvPr/>
          </p:nvSpPr>
          <p:spPr>
            <a:xfrm>
              <a:off x="8211820" y="1978514"/>
              <a:ext cx="1905000" cy="245124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43816921-1C97-4C45-9BB6-FCA596BABDD9}"/>
                </a:ext>
              </a:extLst>
            </p:cNvPr>
            <p:cNvGrpSpPr/>
            <p:nvPr/>
          </p:nvGrpSpPr>
          <p:grpSpPr>
            <a:xfrm>
              <a:off x="8346610" y="2517952"/>
              <a:ext cx="1102190" cy="180000"/>
              <a:chOff x="8290730" y="2623965"/>
              <a:chExt cx="1102190" cy="180000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FDCA9F3-E4E3-40D5-B129-5339F618EC2D}"/>
                  </a:ext>
                </a:extLst>
              </p:cNvPr>
              <p:cNvSpPr/>
              <p:nvPr/>
            </p:nvSpPr>
            <p:spPr>
              <a:xfrm>
                <a:off x="8549640" y="2623965"/>
                <a:ext cx="843280" cy="180000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E22785A-70C0-4D3E-995E-A4DC5AB5CBCE}"/>
                  </a:ext>
                </a:extLst>
              </p:cNvPr>
              <p:cNvSpPr/>
              <p:nvPr/>
            </p:nvSpPr>
            <p:spPr>
              <a:xfrm>
                <a:off x="8290730" y="2623965"/>
                <a:ext cx="180000" cy="180000"/>
              </a:xfrm>
              <a:prstGeom prst="ellipse">
                <a:avLst/>
              </a:prstGeom>
              <a:solidFill>
                <a:schemeClr val="accent4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DEB8FAE-6B1E-4B42-80F9-DA11D309C388}"/>
                </a:ext>
              </a:extLst>
            </p:cNvPr>
            <p:cNvGrpSpPr/>
            <p:nvPr/>
          </p:nvGrpSpPr>
          <p:grpSpPr>
            <a:xfrm>
              <a:off x="8341530" y="2815658"/>
              <a:ext cx="1102190" cy="180000"/>
              <a:chOff x="8290730" y="2623965"/>
              <a:chExt cx="1102190" cy="180000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25CFC61-40D3-48BA-AF16-171564C790F7}"/>
                  </a:ext>
                </a:extLst>
              </p:cNvPr>
              <p:cNvSpPr/>
              <p:nvPr/>
            </p:nvSpPr>
            <p:spPr>
              <a:xfrm>
                <a:off x="8549640" y="2623965"/>
                <a:ext cx="843280" cy="180000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C41BEC6-84E7-4BE1-84B0-2F85E29E58C7}"/>
                  </a:ext>
                </a:extLst>
              </p:cNvPr>
              <p:cNvSpPr/>
              <p:nvPr/>
            </p:nvSpPr>
            <p:spPr>
              <a:xfrm>
                <a:off x="8290730" y="2623965"/>
                <a:ext cx="180000" cy="180000"/>
              </a:xfrm>
              <a:prstGeom prst="ellipse">
                <a:avLst/>
              </a:prstGeom>
              <a:solidFill>
                <a:schemeClr val="accent4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649DC03-EDD2-4758-9B03-43A06E52BFB8}"/>
                </a:ext>
              </a:extLst>
            </p:cNvPr>
            <p:cNvGrpSpPr/>
            <p:nvPr/>
          </p:nvGrpSpPr>
          <p:grpSpPr>
            <a:xfrm>
              <a:off x="8346610" y="3113364"/>
              <a:ext cx="1102190" cy="180000"/>
              <a:chOff x="8290730" y="2623965"/>
              <a:chExt cx="1102190" cy="1800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7505AFC-618F-40F3-BD4E-A5EE534566DA}"/>
                  </a:ext>
                </a:extLst>
              </p:cNvPr>
              <p:cNvSpPr/>
              <p:nvPr/>
            </p:nvSpPr>
            <p:spPr>
              <a:xfrm>
                <a:off x="8549640" y="2623965"/>
                <a:ext cx="843280" cy="180000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94D462B3-C2CF-43F7-875D-77ECCE1225BE}"/>
                  </a:ext>
                </a:extLst>
              </p:cNvPr>
              <p:cNvSpPr/>
              <p:nvPr/>
            </p:nvSpPr>
            <p:spPr>
              <a:xfrm>
                <a:off x="8290730" y="2623965"/>
                <a:ext cx="180000" cy="180000"/>
              </a:xfrm>
              <a:prstGeom prst="ellipse">
                <a:avLst/>
              </a:prstGeom>
              <a:solidFill>
                <a:schemeClr val="accent4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CE15975-56EB-4A37-AF83-18A36A635DA2}"/>
                </a:ext>
              </a:extLst>
            </p:cNvPr>
            <p:cNvSpPr/>
            <p:nvPr/>
          </p:nvSpPr>
          <p:spPr>
            <a:xfrm>
              <a:off x="9250680" y="3733800"/>
              <a:ext cx="524510" cy="125936"/>
            </a:xfrm>
            <a:prstGeom prst="rect">
              <a:avLst/>
            </a:pr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9C450E7-E115-4116-AB3C-2C3B1396E8EE}"/>
                </a:ext>
              </a:extLst>
            </p:cNvPr>
            <p:cNvSpPr/>
            <p:nvPr/>
          </p:nvSpPr>
          <p:spPr>
            <a:xfrm>
              <a:off x="9250680" y="3935592"/>
              <a:ext cx="524510" cy="125936"/>
            </a:xfrm>
            <a:prstGeom prst="rect">
              <a:avLst/>
            </a:pr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FEF0BF0-1277-4AE3-9805-C3768B00B5BE}"/>
                </a:ext>
              </a:extLst>
            </p:cNvPr>
            <p:cNvSpPr/>
            <p:nvPr/>
          </p:nvSpPr>
          <p:spPr>
            <a:xfrm>
              <a:off x="9250680" y="4137384"/>
              <a:ext cx="524510" cy="125936"/>
            </a:xfrm>
            <a:prstGeom prst="rect">
              <a:avLst/>
            </a:pr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8262F3E8-8004-4347-BCF2-23709CEED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2776" y="3690196"/>
              <a:ext cx="573124" cy="573124"/>
            </a:xfrm>
            <a:prstGeom prst="rect">
              <a:avLst/>
            </a:prstGeom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6EF6C24E-03EF-4A15-99BD-DC99499FA467}"/>
                </a:ext>
              </a:extLst>
            </p:cNvPr>
            <p:cNvGrpSpPr/>
            <p:nvPr/>
          </p:nvGrpSpPr>
          <p:grpSpPr>
            <a:xfrm>
              <a:off x="8938260" y="1798514"/>
              <a:ext cx="524510" cy="360000"/>
              <a:chOff x="7448931" y="1610584"/>
              <a:chExt cx="524510" cy="36000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BDF8292-DA8B-4723-90C0-41E9096B8857}"/>
                  </a:ext>
                </a:extLst>
              </p:cNvPr>
              <p:cNvSpPr/>
              <p:nvPr/>
            </p:nvSpPr>
            <p:spPr>
              <a:xfrm>
                <a:off x="7448931" y="1790584"/>
                <a:ext cx="524510" cy="180000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1243827F-E423-4984-AC3A-ACC3C3BD0202}"/>
                  </a:ext>
                </a:extLst>
              </p:cNvPr>
              <p:cNvSpPr/>
              <p:nvPr/>
            </p:nvSpPr>
            <p:spPr>
              <a:xfrm>
                <a:off x="7621186" y="1610584"/>
                <a:ext cx="180000" cy="180000"/>
              </a:xfrm>
              <a:prstGeom prst="ellipse">
                <a:avLst/>
              </a:prstGeom>
              <a:noFill/>
              <a:ln w="762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0"/>
                  </a:spcAft>
                </a:pPr>
                <a:endParaRPr lang="en-US" sz="1800" dirty="0" err="1"/>
              </a:p>
            </p:txBody>
          </p:sp>
        </p:grp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F358590-D985-457F-B89F-EB1F89A18CD4}"/>
                </a:ext>
              </a:extLst>
            </p:cNvPr>
            <p:cNvSpPr/>
            <p:nvPr/>
          </p:nvSpPr>
          <p:spPr>
            <a:xfrm>
              <a:off x="9717540" y="4074553"/>
              <a:ext cx="1080000" cy="10800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r>
                <a:rPr lang="en-IN" sz="4400" b="1" dirty="0"/>
                <a:t>$</a:t>
              </a:r>
              <a:endParaRPr lang="en-US" sz="4400" b="1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82391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DD86-30AB-43A1-80DB-144F0F85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9768"/>
            <a:ext cx="11091672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>
                <a:latin typeface="+mj-lt"/>
              </a:rPr>
              <a:t>Current Warehouse Workflow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4B70B0C-DEB6-4A91-AD62-B420C936ABD0}"/>
              </a:ext>
            </a:extLst>
          </p:cNvPr>
          <p:cNvGrpSpPr/>
          <p:nvPr/>
        </p:nvGrpSpPr>
        <p:grpSpPr>
          <a:xfrm>
            <a:off x="43461" y="2526252"/>
            <a:ext cx="5258721" cy="4002761"/>
            <a:chOff x="43461" y="1413732"/>
            <a:chExt cx="5258721" cy="4002761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D42BFA96-502E-4664-B40F-AA034171FC16}"/>
                </a:ext>
              </a:extLst>
            </p:cNvPr>
            <p:cNvSpPr txBox="1"/>
            <p:nvPr/>
          </p:nvSpPr>
          <p:spPr>
            <a:xfrm>
              <a:off x="475849" y="2018187"/>
              <a:ext cx="988491" cy="2616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Gate In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C4F277C1-10CE-41C2-B837-BB2781D61D83}"/>
                </a:ext>
              </a:extLst>
            </p:cNvPr>
            <p:cNvSpPr txBox="1"/>
            <p:nvPr/>
          </p:nvSpPr>
          <p:spPr>
            <a:xfrm>
              <a:off x="237597" y="2272345"/>
              <a:ext cx="1725686" cy="1200329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IN" sz="900" dirty="0"/>
                <a:t>Manual compliance checks for PUC, RC, blacklist status, driver sobriety, vehicle type, e-seal, container condition.</a:t>
              </a:r>
            </a:p>
            <a:p>
              <a:r>
                <a:rPr lang="en-IN" sz="900" dirty="0"/>
                <a:t>Issues are escalated over WhatsApp to L1/L2 personnel.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22D4E8D-7527-45F9-9E94-6B1B8984999F}"/>
                </a:ext>
              </a:extLst>
            </p:cNvPr>
            <p:cNvCxnSpPr>
              <a:cxnSpLocks/>
            </p:cNvCxnSpPr>
            <p:nvPr/>
          </p:nvCxnSpPr>
          <p:spPr>
            <a:xfrm>
              <a:off x="43461" y="1660406"/>
              <a:ext cx="4356000" cy="0"/>
            </a:xfrm>
            <a:prstGeom prst="line">
              <a:avLst/>
            </a:prstGeom>
            <a:ln w="38100" cap="rnd">
              <a:solidFill>
                <a:schemeClr val="accent4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5AAC2B7-64B5-4685-B55D-83964907EB71}"/>
                </a:ext>
              </a:extLst>
            </p:cNvPr>
            <p:cNvCxnSpPr>
              <a:cxnSpLocks/>
            </p:cNvCxnSpPr>
            <p:nvPr/>
          </p:nvCxnSpPr>
          <p:spPr>
            <a:xfrm>
              <a:off x="43461" y="3796006"/>
              <a:ext cx="4248000" cy="0"/>
            </a:xfrm>
            <a:prstGeom prst="line">
              <a:avLst/>
            </a:prstGeom>
            <a:ln w="38100" cap="rnd">
              <a:solidFill>
                <a:schemeClr val="accent4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Arc 110">
              <a:extLst>
                <a:ext uri="{FF2B5EF4-FFF2-40B4-BE49-F238E27FC236}">
                  <a16:creationId xmlns:a16="http://schemas.microsoft.com/office/drawing/2014/main" id="{5F83CC3F-B865-42DA-8EBC-F2169C3B8F55}"/>
                </a:ext>
              </a:extLst>
            </p:cNvPr>
            <p:cNvSpPr/>
            <p:nvPr/>
          </p:nvSpPr>
          <p:spPr>
            <a:xfrm>
              <a:off x="3366665" y="1653107"/>
              <a:ext cx="1935517" cy="2142899"/>
            </a:xfrm>
            <a:prstGeom prst="arc">
              <a:avLst>
                <a:gd name="adj1" fmla="val 16200000"/>
                <a:gd name="adj2" fmla="val 5577576"/>
              </a:avLst>
            </a:prstGeom>
            <a:ln w="38100" cap="rnd">
              <a:solidFill>
                <a:schemeClr val="accent4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1A711D3-7465-425B-B3AC-B13E842B1606}"/>
                </a:ext>
              </a:extLst>
            </p:cNvPr>
            <p:cNvSpPr/>
            <p:nvPr/>
          </p:nvSpPr>
          <p:spPr>
            <a:xfrm>
              <a:off x="718095" y="1413732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EB78BF6-1B59-4C4E-8915-8E0CBF43D229}"/>
                </a:ext>
              </a:extLst>
            </p:cNvPr>
            <p:cNvSpPr/>
            <p:nvPr/>
          </p:nvSpPr>
          <p:spPr>
            <a:xfrm>
              <a:off x="3599792" y="1413732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A22CEFA-4223-4930-96DF-A90E4CFAE693}"/>
                </a:ext>
              </a:extLst>
            </p:cNvPr>
            <p:cNvSpPr/>
            <p:nvPr/>
          </p:nvSpPr>
          <p:spPr>
            <a:xfrm>
              <a:off x="3599792" y="3547153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273E5AA9-1DB0-4FF3-9782-6E910BB46691}"/>
                </a:ext>
              </a:extLst>
            </p:cNvPr>
            <p:cNvSpPr/>
            <p:nvPr/>
          </p:nvSpPr>
          <p:spPr>
            <a:xfrm>
              <a:off x="718095" y="3547153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6EB844C-1883-4EC3-84F8-E4DD14BFD290}"/>
                </a:ext>
              </a:extLst>
            </p:cNvPr>
            <p:cNvSpPr txBox="1"/>
            <p:nvPr/>
          </p:nvSpPr>
          <p:spPr>
            <a:xfrm>
              <a:off x="493076" y="4128836"/>
              <a:ext cx="988491" cy="2616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Gate </a:t>
              </a:r>
              <a:r>
                <a:rPr lang="en-US" sz="1050" b="1" dirty="0">
                  <a:latin typeface="Arial" panose="020B0604020202020204"/>
                </a:rPr>
                <a:t>Out</a:t>
              </a: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14D1C9B-461E-4267-90D2-4C12BD738862}"/>
                </a:ext>
              </a:extLst>
            </p:cNvPr>
            <p:cNvSpPr txBox="1"/>
            <p:nvPr/>
          </p:nvSpPr>
          <p:spPr>
            <a:xfrm>
              <a:off x="3393755" y="2018187"/>
              <a:ext cx="988491" cy="2616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lang="en-US" sz="1050" b="1" dirty="0">
                  <a:latin typeface="Arial" panose="020B0604020202020204"/>
                </a:rPr>
                <a:t>Parking</a:t>
              </a: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02EBC737-3615-4995-BD38-FBF882DCC270}"/>
                </a:ext>
              </a:extLst>
            </p:cNvPr>
            <p:cNvSpPr txBox="1"/>
            <p:nvPr/>
          </p:nvSpPr>
          <p:spPr>
            <a:xfrm>
              <a:off x="3357546" y="4128836"/>
              <a:ext cx="988491" cy="41549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lang="en-US" sz="1050" b="1" dirty="0">
                  <a:latin typeface="Arial" panose="020B0604020202020204"/>
                </a:rPr>
                <a:t>Loading Dock</a:t>
              </a: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7E6C2BD-75C2-454C-8B4E-0D5980018B85}"/>
                </a:ext>
              </a:extLst>
            </p:cNvPr>
            <p:cNvSpPr txBox="1"/>
            <p:nvPr/>
          </p:nvSpPr>
          <p:spPr>
            <a:xfrm>
              <a:off x="3092256" y="2272345"/>
              <a:ext cx="1725686" cy="64633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US" sz="900" dirty="0"/>
                <a:t>Vehicle waits for dock assignment.</a:t>
              </a:r>
            </a:p>
            <a:p>
              <a:r>
                <a:rPr lang="en-US" sz="900" dirty="0"/>
                <a:t>Manual call by admin team as per requirement.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62681F07-F461-40E7-BDE9-81E418A5770D}"/>
                </a:ext>
              </a:extLst>
            </p:cNvPr>
            <p:cNvSpPr txBox="1"/>
            <p:nvPr/>
          </p:nvSpPr>
          <p:spPr>
            <a:xfrm>
              <a:off x="237597" y="4493163"/>
              <a:ext cx="1725686" cy="50783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US" sz="900" dirty="0"/>
                <a:t>Final checks of lock and consignment challan before exit.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21004D6-CEDE-4B4D-8335-35B9B20D58A9}"/>
                </a:ext>
              </a:extLst>
            </p:cNvPr>
            <p:cNvSpPr txBox="1"/>
            <p:nvPr/>
          </p:nvSpPr>
          <p:spPr>
            <a:xfrm>
              <a:off x="3092256" y="4493163"/>
              <a:ext cx="1725686" cy="92333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US" sz="900" dirty="0"/>
                <a:t>Driver submits keys to ops team.</a:t>
              </a:r>
            </a:p>
            <a:p>
              <a:r>
                <a:rPr lang="en-US" sz="900" dirty="0"/>
                <a:t>Loading is completed and e-seal is applied manually.</a:t>
              </a:r>
            </a:p>
            <a:p>
              <a:r>
                <a:rPr lang="en-US" sz="900" dirty="0"/>
                <a:t>Keys and challan are handed back to the driver.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00AC5B4-EB5B-48F6-ABE0-7BCF9CEF166D}"/>
              </a:ext>
            </a:extLst>
          </p:cNvPr>
          <p:cNvGrpSpPr/>
          <p:nvPr/>
        </p:nvGrpSpPr>
        <p:grpSpPr>
          <a:xfrm flipH="1">
            <a:off x="6943205" y="2544787"/>
            <a:ext cx="5258721" cy="3664206"/>
            <a:chOff x="43461" y="1413732"/>
            <a:chExt cx="5258721" cy="3664206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6BA39982-9BF9-4575-9705-7A5841349E9D}"/>
                </a:ext>
              </a:extLst>
            </p:cNvPr>
            <p:cNvSpPr txBox="1"/>
            <p:nvPr/>
          </p:nvSpPr>
          <p:spPr>
            <a:xfrm>
              <a:off x="475849" y="2018187"/>
              <a:ext cx="988491" cy="2616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Gate In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52D11D1-7A89-4045-9E7F-2C007C50793F}"/>
                </a:ext>
              </a:extLst>
            </p:cNvPr>
            <p:cNvSpPr txBox="1"/>
            <p:nvPr/>
          </p:nvSpPr>
          <p:spPr>
            <a:xfrm>
              <a:off x="237597" y="2272345"/>
              <a:ext cx="1725686" cy="70788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US" sz="800" dirty="0"/>
                <a:t>Truck validated via app, seal condition checked.</a:t>
              </a:r>
            </a:p>
            <a:p>
              <a:r>
                <a:rPr lang="en-US" sz="800" dirty="0"/>
                <a:t>Broken seals are escalated, but alerts are manually handled.</a:t>
              </a:r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B5B49DEB-69D9-469A-8371-73E256453A78}"/>
                </a:ext>
              </a:extLst>
            </p:cNvPr>
            <p:cNvCxnSpPr>
              <a:cxnSpLocks/>
            </p:cNvCxnSpPr>
            <p:nvPr/>
          </p:nvCxnSpPr>
          <p:spPr>
            <a:xfrm>
              <a:off x="43461" y="1660406"/>
              <a:ext cx="4356000" cy="0"/>
            </a:xfrm>
            <a:prstGeom prst="line">
              <a:avLst/>
            </a:prstGeom>
            <a:ln w="38100" cap="rnd">
              <a:solidFill>
                <a:schemeClr val="accent4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6E89B91D-0979-4308-BB47-AE5F1A3E7532}"/>
                </a:ext>
              </a:extLst>
            </p:cNvPr>
            <p:cNvCxnSpPr>
              <a:cxnSpLocks/>
            </p:cNvCxnSpPr>
            <p:nvPr/>
          </p:nvCxnSpPr>
          <p:spPr>
            <a:xfrm>
              <a:off x="43461" y="3796006"/>
              <a:ext cx="4248000" cy="0"/>
            </a:xfrm>
            <a:prstGeom prst="line">
              <a:avLst/>
            </a:prstGeom>
            <a:ln w="38100" cap="rnd">
              <a:solidFill>
                <a:schemeClr val="accent4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Arc 166">
              <a:extLst>
                <a:ext uri="{FF2B5EF4-FFF2-40B4-BE49-F238E27FC236}">
                  <a16:creationId xmlns:a16="http://schemas.microsoft.com/office/drawing/2014/main" id="{195F7147-AA39-4591-B269-5BCE9B2B3909}"/>
                </a:ext>
              </a:extLst>
            </p:cNvPr>
            <p:cNvSpPr/>
            <p:nvPr/>
          </p:nvSpPr>
          <p:spPr>
            <a:xfrm>
              <a:off x="3366665" y="1653107"/>
              <a:ext cx="1935517" cy="2142899"/>
            </a:xfrm>
            <a:prstGeom prst="arc">
              <a:avLst>
                <a:gd name="adj1" fmla="val 16200000"/>
                <a:gd name="adj2" fmla="val 5577576"/>
              </a:avLst>
            </a:prstGeom>
            <a:ln w="38100" cap="rnd">
              <a:solidFill>
                <a:schemeClr val="accent4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3725BC52-92EB-470D-8339-738ECC1539E6}"/>
                </a:ext>
              </a:extLst>
            </p:cNvPr>
            <p:cNvSpPr/>
            <p:nvPr/>
          </p:nvSpPr>
          <p:spPr>
            <a:xfrm>
              <a:off x="718095" y="1413732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A8F5CCC-138D-424B-B9D8-4D39CDE3EA91}"/>
                </a:ext>
              </a:extLst>
            </p:cNvPr>
            <p:cNvSpPr/>
            <p:nvPr/>
          </p:nvSpPr>
          <p:spPr>
            <a:xfrm>
              <a:off x="3599792" y="1413732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96B17AA4-2FA4-4A53-97D6-A8AD611279A8}"/>
                </a:ext>
              </a:extLst>
            </p:cNvPr>
            <p:cNvSpPr/>
            <p:nvPr/>
          </p:nvSpPr>
          <p:spPr>
            <a:xfrm>
              <a:off x="3599792" y="3547153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55E2920-7BDB-408B-B4C6-BDAA329D048F}"/>
                </a:ext>
              </a:extLst>
            </p:cNvPr>
            <p:cNvSpPr/>
            <p:nvPr/>
          </p:nvSpPr>
          <p:spPr>
            <a:xfrm>
              <a:off x="718095" y="3547153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0"/>
                </a:spcAft>
              </a:pPr>
              <a:endParaRPr lang="en-US" sz="1800" dirty="0" err="1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7BE1F2E-E81C-4D39-987D-4E31D30E5487}"/>
                </a:ext>
              </a:extLst>
            </p:cNvPr>
            <p:cNvSpPr txBox="1"/>
            <p:nvPr/>
          </p:nvSpPr>
          <p:spPr>
            <a:xfrm>
              <a:off x="493076" y="4128836"/>
              <a:ext cx="988491" cy="2616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Gate </a:t>
              </a:r>
              <a:r>
                <a:rPr lang="en-US" sz="1050" b="1" dirty="0">
                  <a:latin typeface="Arial" panose="020B0604020202020204"/>
                </a:rPr>
                <a:t>Out</a:t>
              </a: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BEE76498-DBF0-4EB0-9F13-792FEB9035BA}"/>
                </a:ext>
              </a:extLst>
            </p:cNvPr>
            <p:cNvSpPr txBox="1"/>
            <p:nvPr/>
          </p:nvSpPr>
          <p:spPr>
            <a:xfrm>
              <a:off x="3393755" y="2018187"/>
              <a:ext cx="988491" cy="2616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lang="en-US" sz="1050" b="1" dirty="0">
                  <a:latin typeface="Arial" panose="020B0604020202020204"/>
                </a:rPr>
                <a:t>Parking</a:t>
              </a: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5CA1D01-DC56-49D2-B865-21647CA7325C}"/>
                </a:ext>
              </a:extLst>
            </p:cNvPr>
            <p:cNvSpPr txBox="1"/>
            <p:nvPr/>
          </p:nvSpPr>
          <p:spPr>
            <a:xfrm>
              <a:off x="3357546" y="4128836"/>
              <a:ext cx="988491" cy="41549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lang="en-US" sz="1050" b="1" dirty="0">
                  <a:latin typeface="Arial" panose="020B0604020202020204"/>
                </a:rPr>
                <a:t>Unloading Dock</a:t>
              </a: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9D8FB6D-C673-41FC-877C-B1FD10A39673}"/>
                </a:ext>
              </a:extLst>
            </p:cNvPr>
            <p:cNvSpPr txBox="1"/>
            <p:nvPr/>
          </p:nvSpPr>
          <p:spPr>
            <a:xfrm>
              <a:off x="3092256" y="2272345"/>
              <a:ext cx="1725686" cy="33855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US" sz="800" dirty="0"/>
                <a:t>Vehicle waits in queue without automated tracking.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DA15891A-8DC2-4809-BC12-6C6D11734225}"/>
                </a:ext>
              </a:extLst>
            </p:cNvPr>
            <p:cNvSpPr txBox="1"/>
            <p:nvPr/>
          </p:nvSpPr>
          <p:spPr>
            <a:xfrm>
              <a:off x="237597" y="4493163"/>
              <a:ext cx="1725686" cy="46166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US" sz="800" dirty="0"/>
                <a:t>Exit permitted post-unloading without compliance reconfirmation.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B980AE80-4123-4294-9270-50F444E4F4ED}"/>
                </a:ext>
              </a:extLst>
            </p:cNvPr>
            <p:cNvSpPr txBox="1"/>
            <p:nvPr/>
          </p:nvSpPr>
          <p:spPr>
            <a:xfrm>
              <a:off x="3092256" y="4493163"/>
              <a:ext cx="1725686" cy="58477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r>
                <a:rPr lang="en-US" sz="800" dirty="0"/>
                <a:t>Keys taken from driver, unloading is manual.</a:t>
              </a:r>
            </a:p>
            <a:p>
              <a:r>
                <a:rPr lang="en-US" sz="800" dirty="0"/>
                <a:t>No timestamped logs or traceability.</a:t>
              </a:r>
            </a:p>
          </p:txBody>
        </p:sp>
      </p:grpSp>
      <p:pic>
        <p:nvPicPr>
          <p:cNvPr id="120" name="Picture 119">
            <a:extLst>
              <a:ext uri="{FF2B5EF4-FFF2-40B4-BE49-F238E27FC236}">
                <a16:creationId xmlns:a16="http://schemas.microsoft.com/office/drawing/2014/main" id="{1440385A-3D7C-4F0B-B8D4-F7340B1374D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74" y="2608901"/>
            <a:ext cx="360000" cy="360000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56F281D6-7502-4AD0-8180-F5A1226007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74" y="4736387"/>
            <a:ext cx="360000" cy="360000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AA51CD52-49CE-44E1-B5E2-BDAB275DABE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566" y="2611461"/>
            <a:ext cx="360000" cy="360000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7AF939A1-56D7-459D-959A-25174440BFB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292" y="4747061"/>
            <a:ext cx="360000" cy="360000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7CE6104B-761C-4CAC-8799-68EBC13A0235}"/>
              </a:ext>
            </a:extLst>
          </p:cNvPr>
          <p:cNvSpPr txBox="1"/>
          <p:nvPr/>
        </p:nvSpPr>
        <p:spPr>
          <a:xfrm>
            <a:off x="1100440" y="1025366"/>
            <a:ext cx="2854607" cy="40011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800"/>
              </a:spcAft>
              <a:buClr>
                <a:srgbClr val="75737D"/>
              </a:buClr>
              <a:buSzPct val="11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Outbound Process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A4AD814-7CF4-4567-94B0-6B84FE87D6B3}"/>
              </a:ext>
            </a:extLst>
          </p:cNvPr>
          <p:cNvSpPr txBox="1"/>
          <p:nvPr/>
        </p:nvSpPr>
        <p:spPr>
          <a:xfrm>
            <a:off x="7973217" y="1025366"/>
            <a:ext cx="2854607" cy="40011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800"/>
              </a:spcAft>
              <a:buClr>
                <a:srgbClr val="75737D"/>
              </a:buClr>
              <a:buSzPct val="11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Inbound Process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A9923-731C-4BBA-B277-0F47EF4170C0}"/>
              </a:ext>
            </a:extLst>
          </p:cNvPr>
          <p:cNvCxnSpPr/>
          <p:nvPr/>
        </p:nvCxnSpPr>
        <p:spPr>
          <a:xfrm>
            <a:off x="6207760" y="1146601"/>
            <a:ext cx="0" cy="5101799"/>
          </a:xfrm>
          <a:prstGeom prst="line">
            <a:avLst/>
          </a:prstGeom>
          <a:ln w="9525" cap="rnd">
            <a:solidFill>
              <a:schemeClr val="tx2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87BB242-E543-4B1B-9E09-BC40F3C9107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997" y="2577565"/>
            <a:ext cx="360000" cy="3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D7474A-D855-4B5A-91A7-B8F8D7D5744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64664" y="4734521"/>
            <a:ext cx="360000" cy="360000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E666C08B-7363-4B11-8DA3-AB56513F3B1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22103" y="2607256"/>
            <a:ext cx="360000" cy="360000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EFD82F8F-5E76-43E5-8A0D-EAEC0B9C64E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595" y="4764212"/>
            <a:ext cx="360000" cy="360000"/>
          </a:xfrm>
          <a:prstGeom prst="rect">
            <a:avLst/>
          </a:prstGeom>
        </p:spPr>
      </p:pic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AF74CBA7-4E73-4121-B4BC-EC575230F92E}"/>
              </a:ext>
            </a:extLst>
          </p:cNvPr>
          <p:cNvSpPr/>
          <p:nvPr/>
        </p:nvSpPr>
        <p:spPr>
          <a:xfrm>
            <a:off x="1367747" y="2019268"/>
            <a:ext cx="1564787" cy="471374"/>
          </a:xfrm>
          <a:prstGeom prst="wedgeRoundRectCallout">
            <a:avLst>
              <a:gd name="adj1" fmla="val -59864"/>
              <a:gd name="adj2" fmla="val 176952"/>
              <a:gd name="adj3" fmla="val 16667"/>
            </a:avLst>
          </a:prstGeom>
          <a:solidFill>
            <a:srgbClr val="B2E3B1">
              <a:alpha val="44000"/>
            </a:srgbClr>
          </a:solidFill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800" dirty="0">
                <a:solidFill>
                  <a:schemeClr val="tx1"/>
                </a:solidFill>
              </a:rPr>
              <a:t>No photographic evidence or audit trail maintained.</a:t>
            </a:r>
          </a:p>
        </p:txBody>
      </p: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950DEA8F-3E57-4D57-BCD6-3E291D11C010}"/>
              </a:ext>
            </a:extLst>
          </p:cNvPr>
          <p:cNvSpPr/>
          <p:nvPr/>
        </p:nvSpPr>
        <p:spPr>
          <a:xfrm>
            <a:off x="4419454" y="2225108"/>
            <a:ext cx="1564787" cy="471374"/>
          </a:xfrm>
          <a:prstGeom prst="wedgeRoundRectCallout">
            <a:avLst>
              <a:gd name="adj1" fmla="val -59864"/>
              <a:gd name="adj2" fmla="val 176952"/>
              <a:gd name="adj3" fmla="val 16667"/>
            </a:avLst>
          </a:prstGeom>
          <a:solidFill>
            <a:srgbClr val="B2E3B1">
              <a:alpha val="44000"/>
            </a:srgbClr>
          </a:solidFill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800" dirty="0">
                <a:solidFill>
                  <a:schemeClr val="tx1"/>
                </a:solidFill>
              </a:rPr>
              <a:t>No system-driven turn management or idle time tracking.</a:t>
            </a:r>
          </a:p>
        </p:txBody>
      </p:sp>
      <p:sp>
        <p:nvSpPr>
          <p:cNvPr id="48" name="Speech Bubble: Rectangle with Corners Rounded 47">
            <a:extLst>
              <a:ext uri="{FF2B5EF4-FFF2-40B4-BE49-F238E27FC236}">
                <a16:creationId xmlns:a16="http://schemas.microsoft.com/office/drawing/2014/main" id="{ABDD5FF7-9CFE-460C-BED1-877E0D679A3A}"/>
              </a:ext>
            </a:extLst>
          </p:cNvPr>
          <p:cNvSpPr/>
          <p:nvPr/>
        </p:nvSpPr>
        <p:spPr>
          <a:xfrm>
            <a:off x="1537913" y="4274454"/>
            <a:ext cx="1440733" cy="471374"/>
          </a:xfrm>
          <a:prstGeom prst="wedgeRoundRectCallout">
            <a:avLst>
              <a:gd name="adj1" fmla="val -64611"/>
              <a:gd name="adj2" fmla="val 127378"/>
              <a:gd name="adj3" fmla="val 16667"/>
            </a:avLst>
          </a:prstGeom>
          <a:solidFill>
            <a:srgbClr val="B2E3B1">
              <a:alpha val="44000"/>
            </a:srgbClr>
          </a:solidFill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800" dirty="0">
                <a:solidFill>
                  <a:schemeClr val="tx1"/>
                </a:solidFill>
              </a:rPr>
              <a:t>No digital validation or evidence or </a:t>
            </a:r>
            <a:r>
              <a:rPr lang="en-US" sz="800" dirty="0" smtClean="0">
                <a:solidFill>
                  <a:schemeClr val="tx1"/>
                </a:solidFill>
              </a:rPr>
              <a:t>audit trail.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0" name="Speech Bubble: Rectangle with Corners Rounded 49">
            <a:extLst>
              <a:ext uri="{FF2B5EF4-FFF2-40B4-BE49-F238E27FC236}">
                <a16:creationId xmlns:a16="http://schemas.microsoft.com/office/drawing/2014/main" id="{7843B797-6AD0-4DC7-ADB1-287F662F9414}"/>
              </a:ext>
            </a:extLst>
          </p:cNvPr>
          <p:cNvSpPr/>
          <p:nvPr/>
        </p:nvSpPr>
        <p:spPr>
          <a:xfrm>
            <a:off x="6576808" y="2064291"/>
            <a:ext cx="1564787" cy="471374"/>
          </a:xfrm>
          <a:prstGeom prst="wedgeRoundRectCallout">
            <a:avLst>
              <a:gd name="adj1" fmla="val 42594"/>
              <a:gd name="adj2" fmla="val 126516"/>
              <a:gd name="adj3" fmla="val 16667"/>
            </a:avLst>
          </a:prstGeom>
          <a:solidFill>
            <a:srgbClr val="B2E3B1">
              <a:alpha val="44000"/>
            </a:srgbClr>
          </a:solidFill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800" dirty="0">
                <a:solidFill>
                  <a:schemeClr val="tx1"/>
                </a:solidFill>
              </a:rPr>
              <a:t>No system-driven turn management or idle time tracking.</a:t>
            </a:r>
          </a:p>
        </p:txBody>
      </p:sp>
      <p:sp>
        <p:nvSpPr>
          <p:cNvPr id="51" name="Speech Bubble: Rectangle with Corners Rounded 50">
            <a:extLst>
              <a:ext uri="{FF2B5EF4-FFF2-40B4-BE49-F238E27FC236}">
                <a16:creationId xmlns:a16="http://schemas.microsoft.com/office/drawing/2014/main" id="{C09E7749-F287-4EEA-893B-058D032C70C9}"/>
              </a:ext>
            </a:extLst>
          </p:cNvPr>
          <p:cNvSpPr/>
          <p:nvPr/>
        </p:nvSpPr>
        <p:spPr>
          <a:xfrm>
            <a:off x="9332173" y="2103786"/>
            <a:ext cx="1564787" cy="471374"/>
          </a:xfrm>
          <a:prstGeom prst="wedgeRoundRectCallout">
            <a:avLst>
              <a:gd name="adj1" fmla="val 57008"/>
              <a:gd name="adj2" fmla="val 112290"/>
              <a:gd name="adj3" fmla="val 16667"/>
            </a:avLst>
          </a:prstGeom>
          <a:solidFill>
            <a:srgbClr val="B2E3B1">
              <a:alpha val="44000"/>
            </a:srgbClr>
          </a:solidFill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800" dirty="0">
                <a:solidFill>
                  <a:schemeClr val="tx1"/>
                </a:solidFill>
              </a:rPr>
              <a:t>No system-driven audit trail maintained for exception</a:t>
            </a:r>
          </a:p>
        </p:txBody>
      </p:sp>
      <p:sp>
        <p:nvSpPr>
          <p:cNvPr id="52" name="Speech Bubble: Rectangle with Corners Rounded 51">
            <a:extLst>
              <a:ext uri="{FF2B5EF4-FFF2-40B4-BE49-F238E27FC236}">
                <a16:creationId xmlns:a16="http://schemas.microsoft.com/office/drawing/2014/main" id="{C9E475DC-F5FF-4713-9D87-0DD3BB6904A5}"/>
              </a:ext>
            </a:extLst>
          </p:cNvPr>
          <p:cNvSpPr/>
          <p:nvPr/>
        </p:nvSpPr>
        <p:spPr>
          <a:xfrm>
            <a:off x="9456227" y="4299543"/>
            <a:ext cx="1440733" cy="471374"/>
          </a:xfrm>
          <a:prstGeom prst="wedgeRoundRectCallout">
            <a:avLst>
              <a:gd name="adj1" fmla="val 47938"/>
              <a:gd name="adj2" fmla="val 137724"/>
              <a:gd name="adj3" fmla="val 16667"/>
            </a:avLst>
          </a:prstGeom>
          <a:solidFill>
            <a:srgbClr val="B2E3B1">
              <a:alpha val="44000"/>
            </a:srgbClr>
          </a:solidFill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800" dirty="0">
                <a:solidFill>
                  <a:schemeClr val="tx1"/>
                </a:solidFill>
              </a:rPr>
              <a:t>No digital validation or evidence or logging.</a:t>
            </a:r>
          </a:p>
        </p:txBody>
      </p:sp>
    </p:spTree>
    <p:extLst>
      <p:ext uri="{BB962C8B-B14F-4D97-AF65-F5344CB8AC3E}">
        <p14:creationId xmlns:p14="http://schemas.microsoft.com/office/powerpoint/2010/main" val="246666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Oval 215">
            <a:extLst>
              <a:ext uri="{FF2B5EF4-FFF2-40B4-BE49-F238E27FC236}">
                <a16:creationId xmlns:a16="http://schemas.microsoft.com/office/drawing/2014/main" id="{52007FB7-F7BC-418E-BEDC-74461765533E}"/>
              </a:ext>
            </a:extLst>
          </p:cNvPr>
          <p:cNvSpPr/>
          <p:nvPr/>
        </p:nvSpPr>
        <p:spPr>
          <a:xfrm>
            <a:off x="609184" y="1769805"/>
            <a:ext cx="432000" cy="432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9DD86-30AB-43A1-80DB-144F0F85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9768"/>
            <a:ext cx="11091672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>
                <a:latin typeface="+mj-lt"/>
              </a:rPr>
              <a:t> Key Gaps Identified</a:t>
            </a: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9E27A4C2-3F15-4AE8-8F62-3275F0BAC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309471"/>
              </p:ext>
            </p:extLst>
          </p:nvPr>
        </p:nvGraphicFramePr>
        <p:xfrm>
          <a:off x="548640" y="1644524"/>
          <a:ext cx="10810240" cy="478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547">
                  <a:extLst>
                    <a:ext uri="{9D8B030D-6E8A-4147-A177-3AD203B41FA5}">
                      <a16:colId xmlns:a16="http://schemas.microsoft.com/office/drawing/2014/main" val="1072072743"/>
                    </a:ext>
                  </a:extLst>
                </a:gridCol>
                <a:gridCol w="1897613">
                  <a:extLst>
                    <a:ext uri="{9D8B030D-6E8A-4147-A177-3AD203B41FA5}">
                      <a16:colId xmlns:a16="http://schemas.microsoft.com/office/drawing/2014/main" val="2924717179"/>
                    </a:ext>
                  </a:extLst>
                </a:gridCol>
                <a:gridCol w="4323080">
                  <a:extLst>
                    <a:ext uri="{9D8B030D-6E8A-4147-A177-3AD203B41FA5}">
                      <a16:colId xmlns:a16="http://schemas.microsoft.com/office/drawing/2014/main" val="31647585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7265896"/>
                    </a:ext>
                  </a:extLst>
                </a:gridCol>
                <a:gridCol w="3855720">
                  <a:extLst>
                    <a:ext uri="{9D8B030D-6E8A-4147-A177-3AD203B41FA5}">
                      <a16:colId xmlns:a16="http://schemas.microsoft.com/office/drawing/2014/main" val="3390296196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  <a:latin typeface="Arial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 (Body)"/>
                        </a:rPr>
                        <a:t>Vehicle Compliance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(Body)"/>
                        </a:rPr>
                        <a:t>Manual checks without digital proof or validation via official records.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Real-time validation via ULIP &amp;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Vahan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 APIs &amp; Amazon internal data library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556389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endParaRPr lang="en-US">
                        <a:solidFill>
                          <a:schemeClr val="tx1"/>
                        </a:solidFill>
                        <a:latin typeface="Arial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 (Body)"/>
                        </a:rPr>
                        <a:t>Driver Verification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(Body)"/>
                        </a:rPr>
                        <a:t>No integration with license or offence history databases.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API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integration for license and offence verification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27003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endParaRPr lang="en-US">
                        <a:latin typeface="Arial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Arial (Body)"/>
                        </a:rPr>
                        <a:t>Audit &amp; Evidence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 (Body)"/>
                        </a:rPr>
                        <a:t>No timestamped photo/video records maintained.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Photo/video capture with timestamp and user ID for each event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17646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endParaRPr lang="en-US" dirty="0">
                        <a:latin typeface="Arial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Arial (Body)"/>
                        </a:rPr>
                        <a:t>Escalation Handling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 (Body)"/>
                        </a:rPr>
                        <a:t>Informal WhatsApp-based flow with no SLA or audit trail.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SLA-based escalation module with L1–L3 routing and resolution tracking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61042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endParaRPr lang="en-US">
                        <a:latin typeface="Arial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Arial (Body)"/>
                        </a:rPr>
                        <a:t>Surprise Audits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 (Body)"/>
                        </a:rPr>
                        <a:t>No tool for </a:t>
                      </a:r>
                      <a:r>
                        <a:rPr lang="en-US" sz="1400" dirty="0" smtClean="0">
                          <a:latin typeface="Arial (Body)"/>
                        </a:rPr>
                        <a:t>Road Safety Ambassador</a:t>
                      </a:r>
                      <a:r>
                        <a:rPr lang="en-US" sz="1400" baseline="0" dirty="0" smtClean="0">
                          <a:latin typeface="Arial (Body)"/>
                        </a:rPr>
                        <a:t>s (RSA) </a:t>
                      </a:r>
                      <a:r>
                        <a:rPr lang="en-US" sz="1400" dirty="0" smtClean="0">
                          <a:latin typeface="Arial (Body)"/>
                        </a:rPr>
                        <a:t>to </a:t>
                      </a:r>
                      <a:r>
                        <a:rPr lang="en-US" sz="1400" dirty="0">
                          <a:latin typeface="Arial (Body)"/>
                        </a:rPr>
                        <a:t>perform random checks or log findings.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Mobile audit app for field inspection, reporting and documentation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35714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endParaRPr lang="en-US">
                        <a:latin typeface="Arial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Arial (Body)"/>
                        </a:rPr>
                        <a:t>TAT Tracking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 (Body)"/>
                        </a:rPr>
                        <a:t>No gate-to-gate time measurement; inefficiencies go unnoticed.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rial (Body)"/>
                          <a:ea typeface="+mn-ea"/>
                          <a:cs typeface="+mn-cs"/>
                        </a:rPr>
                        <a:t>Stage-wise TAT capture from Gate-In to Gate-Out for performance analysis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58050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endParaRPr lang="en-US" dirty="0">
                        <a:latin typeface="Arial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809594"/>
                  </a:ext>
                </a:extLst>
              </a:tr>
            </a:tbl>
          </a:graphicData>
        </a:graphic>
      </p:graphicFrame>
      <p:sp>
        <p:nvSpPr>
          <p:cNvPr id="185" name="TextBox 184">
            <a:extLst>
              <a:ext uri="{FF2B5EF4-FFF2-40B4-BE49-F238E27FC236}">
                <a16:creationId xmlns:a16="http://schemas.microsoft.com/office/drawing/2014/main" id="{B3271DB8-0B4A-4C38-AC28-DEA33DB150FE}"/>
              </a:ext>
            </a:extLst>
          </p:cNvPr>
          <p:cNvSpPr txBox="1"/>
          <p:nvPr/>
        </p:nvSpPr>
        <p:spPr>
          <a:xfrm>
            <a:off x="619760" y="1225412"/>
            <a:ext cx="2306320" cy="330669"/>
          </a:xfrm>
          <a:prstGeom prst="round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0"/>
              </a:spcBef>
              <a:spcAft>
                <a:spcPts val="600"/>
              </a:spcAft>
              <a:defRPr sz="2000" b="1">
                <a:solidFill>
                  <a:schemeClr val="bg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1400" dirty="0">
                <a:solidFill>
                  <a:schemeClr val="bg1"/>
                </a:solidFill>
              </a:rPr>
              <a:t>Parameter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6175028-3D1A-49C0-9837-01EB70207161}"/>
              </a:ext>
            </a:extLst>
          </p:cNvPr>
          <p:cNvSpPr txBox="1"/>
          <p:nvPr/>
        </p:nvSpPr>
        <p:spPr>
          <a:xfrm>
            <a:off x="3063240" y="1231021"/>
            <a:ext cx="4069080" cy="32212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1400" dirty="0"/>
              <a:t>Gap Identified</a:t>
            </a:r>
            <a:endParaRPr lang="en-US" sz="14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EC754DD-3736-4F37-BF8E-BD9D7479298B}"/>
              </a:ext>
            </a:extLst>
          </p:cNvPr>
          <p:cNvSpPr txBox="1"/>
          <p:nvPr/>
        </p:nvSpPr>
        <p:spPr>
          <a:xfrm>
            <a:off x="7559040" y="1222712"/>
            <a:ext cx="3748383" cy="32795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1400"/>
              <a:t>Solution</a:t>
            </a:r>
            <a:endParaRPr lang="en-US" sz="1400" dirty="0"/>
          </a:p>
        </p:txBody>
      </p:sp>
      <p:sp>
        <p:nvSpPr>
          <p:cNvPr id="205" name="Isosceles Triangle 204">
            <a:extLst>
              <a:ext uri="{FF2B5EF4-FFF2-40B4-BE49-F238E27FC236}">
                <a16:creationId xmlns:a16="http://schemas.microsoft.com/office/drawing/2014/main" id="{EF5BF1AD-42A2-4BC4-A725-C42FB558B3AB}"/>
              </a:ext>
            </a:extLst>
          </p:cNvPr>
          <p:cNvSpPr/>
          <p:nvPr/>
        </p:nvSpPr>
        <p:spPr>
          <a:xfrm rot="5400000">
            <a:off x="7257917" y="1841910"/>
            <a:ext cx="263069" cy="202009"/>
          </a:xfrm>
          <a:prstGeom prst="triangle">
            <a:avLst/>
          </a:prstGeom>
          <a:solidFill>
            <a:srgbClr val="45B74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>
              <a:solidFill>
                <a:schemeClr val="tx1"/>
              </a:solidFill>
            </a:endParaRPr>
          </a:p>
        </p:txBody>
      </p:sp>
      <p:sp>
        <p:nvSpPr>
          <p:cNvPr id="208" name="Isosceles Triangle 207">
            <a:extLst>
              <a:ext uri="{FF2B5EF4-FFF2-40B4-BE49-F238E27FC236}">
                <a16:creationId xmlns:a16="http://schemas.microsoft.com/office/drawing/2014/main" id="{66C4C20A-683F-4756-8FDD-AEC477F0B12D}"/>
              </a:ext>
            </a:extLst>
          </p:cNvPr>
          <p:cNvSpPr/>
          <p:nvPr/>
        </p:nvSpPr>
        <p:spPr>
          <a:xfrm rot="5400000">
            <a:off x="7257917" y="2527562"/>
            <a:ext cx="263069" cy="202009"/>
          </a:xfrm>
          <a:prstGeom prst="triangle">
            <a:avLst/>
          </a:prstGeom>
          <a:solidFill>
            <a:srgbClr val="45B74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>
              <a:solidFill>
                <a:schemeClr val="tx1"/>
              </a:solidFill>
            </a:endParaRPr>
          </a:p>
        </p:txBody>
      </p:sp>
      <p:sp>
        <p:nvSpPr>
          <p:cNvPr id="210" name="Isosceles Triangle 209">
            <a:extLst>
              <a:ext uri="{FF2B5EF4-FFF2-40B4-BE49-F238E27FC236}">
                <a16:creationId xmlns:a16="http://schemas.microsoft.com/office/drawing/2014/main" id="{8E1BFE64-3733-4A96-A76F-F7A2DA4F8999}"/>
              </a:ext>
            </a:extLst>
          </p:cNvPr>
          <p:cNvSpPr/>
          <p:nvPr/>
        </p:nvSpPr>
        <p:spPr>
          <a:xfrm rot="5400000">
            <a:off x="7257917" y="3183247"/>
            <a:ext cx="263069" cy="202009"/>
          </a:xfrm>
          <a:prstGeom prst="triangle">
            <a:avLst/>
          </a:prstGeom>
          <a:solidFill>
            <a:srgbClr val="45B74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>
              <a:solidFill>
                <a:schemeClr val="tx1"/>
              </a:solidFill>
            </a:endParaRPr>
          </a:p>
        </p:txBody>
      </p:sp>
      <p:sp>
        <p:nvSpPr>
          <p:cNvPr id="211" name="Isosceles Triangle 210">
            <a:extLst>
              <a:ext uri="{FF2B5EF4-FFF2-40B4-BE49-F238E27FC236}">
                <a16:creationId xmlns:a16="http://schemas.microsoft.com/office/drawing/2014/main" id="{51290C42-BAED-4BCC-8A47-48AE07C95126}"/>
              </a:ext>
            </a:extLst>
          </p:cNvPr>
          <p:cNvSpPr/>
          <p:nvPr/>
        </p:nvSpPr>
        <p:spPr>
          <a:xfrm rot="5400000">
            <a:off x="7257917" y="3868899"/>
            <a:ext cx="263069" cy="202009"/>
          </a:xfrm>
          <a:prstGeom prst="triangle">
            <a:avLst/>
          </a:prstGeom>
          <a:solidFill>
            <a:srgbClr val="45B74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>
              <a:solidFill>
                <a:schemeClr val="tx1"/>
              </a:solidFill>
            </a:endParaRPr>
          </a:p>
        </p:txBody>
      </p:sp>
      <p:sp>
        <p:nvSpPr>
          <p:cNvPr id="213" name="Isosceles Triangle 212">
            <a:extLst>
              <a:ext uri="{FF2B5EF4-FFF2-40B4-BE49-F238E27FC236}">
                <a16:creationId xmlns:a16="http://schemas.microsoft.com/office/drawing/2014/main" id="{0B56DD37-A677-4E1F-8D88-200EE5B65E69}"/>
              </a:ext>
            </a:extLst>
          </p:cNvPr>
          <p:cNvSpPr/>
          <p:nvPr/>
        </p:nvSpPr>
        <p:spPr>
          <a:xfrm rot="5400000">
            <a:off x="7257917" y="4554551"/>
            <a:ext cx="263069" cy="202009"/>
          </a:xfrm>
          <a:prstGeom prst="triangle">
            <a:avLst/>
          </a:prstGeom>
          <a:solidFill>
            <a:srgbClr val="45B74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>
              <a:solidFill>
                <a:schemeClr val="tx1"/>
              </a:solidFill>
            </a:endParaRPr>
          </a:p>
        </p:txBody>
      </p:sp>
      <p:sp>
        <p:nvSpPr>
          <p:cNvPr id="214" name="Isosceles Triangle 213">
            <a:extLst>
              <a:ext uri="{FF2B5EF4-FFF2-40B4-BE49-F238E27FC236}">
                <a16:creationId xmlns:a16="http://schemas.microsoft.com/office/drawing/2014/main" id="{3B0F3288-CF63-4C9F-9647-312E0D112258}"/>
              </a:ext>
            </a:extLst>
          </p:cNvPr>
          <p:cNvSpPr/>
          <p:nvPr/>
        </p:nvSpPr>
        <p:spPr>
          <a:xfrm rot="5400000">
            <a:off x="7257917" y="5240203"/>
            <a:ext cx="263069" cy="202009"/>
          </a:xfrm>
          <a:prstGeom prst="triangle">
            <a:avLst/>
          </a:prstGeom>
          <a:solidFill>
            <a:srgbClr val="45B74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>
              <a:solidFill>
                <a:schemeClr val="tx1"/>
              </a:solidFill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08D9E582-4E3C-4001-8FBE-0AC1EE62B669}"/>
              </a:ext>
            </a:extLst>
          </p:cNvPr>
          <p:cNvSpPr/>
          <p:nvPr/>
        </p:nvSpPr>
        <p:spPr>
          <a:xfrm>
            <a:off x="609184" y="2459179"/>
            <a:ext cx="432000" cy="432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D36421DB-48F1-4819-9F57-D8A8551A66E5}"/>
              </a:ext>
            </a:extLst>
          </p:cNvPr>
          <p:cNvSpPr/>
          <p:nvPr/>
        </p:nvSpPr>
        <p:spPr>
          <a:xfrm>
            <a:off x="609184" y="4501056"/>
            <a:ext cx="432000" cy="432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426362F2-32FD-4172-A49A-A274EB890153}"/>
              </a:ext>
            </a:extLst>
          </p:cNvPr>
          <p:cNvSpPr/>
          <p:nvPr/>
        </p:nvSpPr>
        <p:spPr>
          <a:xfrm>
            <a:off x="609184" y="3122308"/>
            <a:ext cx="432000" cy="432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DE1D6BF7-98A1-42CD-8BE6-FE8F06B5B8FA}"/>
              </a:ext>
            </a:extLst>
          </p:cNvPr>
          <p:cNvSpPr/>
          <p:nvPr/>
        </p:nvSpPr>
        <p:spPr>
          <a:xfrm>
            <a:off x="609184" y="3811682"/>
            <a:ext cx="432000" cy="432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73A57B42-64B3-4371-A40A-97CA51F8F29B}"/>
              </a:ext>
            </a:extLst>
          </p:cNvPr>
          <p:cNvSpPr/>
          <p:nvPr/>
        </p:nvSpPr>
        <p:spPr>
          <a:xfrm>
            <a:off x="609184" y="5190428"/>
            <a:ext cx="432000" cy="432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3" name="Rectangle 2"/>
          <p:cNvSpPr/>
          <p:nvPr/>
        </p:nvSpPr>
        <p:spPr>
          <a:xfrm>
            <a:off x="416120" y="6321285"/>
            <a:ext cx="11091672" cy="1907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 smtClean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6B528D4-8298-418E-BBCF-DC18B549D53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13" y="4564121"/>
            <a:ext cx="288000" cy="28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6410FAD-7BD7-48D4-93D4-B95CEECA149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20" y="5262431"/>
            <a:ext cx="288000" cy="28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34613E0-1628-49B1-80B4-4837AFE5A51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32" y="3883685"/>
            <a:ext cx="288000" cy="28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35C018F-B9B2-4267-90EE-D626F893B39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96" y="3192852"/>
            <a:ext cx="288000" cy="28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B06AF0C-D260-4F6D-B68F-63E71DD1F32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84" y="2527154"/>
            <a:ext cx="288000" cy="288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79ACC18-B5DF-4C92-A42F-0497541AF607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20" y="1836321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9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9482-8BA1-4641-A1B1-5D8EBEF0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9768"/>
            <a:ext cx="11091672" cy="369332"/>
          </a:xfrm>
        </p:spPr>
        <p:txBody>
          <a:bodyPr/>
          <a:lstStyle/>
          <a:p>
            <a:r>
              <a:rPr lang="en-US" b="1" dirty="0"/>
              <a:t>Benefits of </a:t>
            </a:r>
            <a:r>
              <a:rPr lang="en-US" b="1" dirty="0" smtClean="0"/>
              <a:t>Axestrack </a:t>
            </a:r>
            <a:r>
              <a:rPr lang="en-US" dirty="0" smtClean="0"/>
              <a:t>Digital Solution</a:t>
            </a:r>
            <a:endParaRPr lang="en-US" dirty="0"/>
          </a:p>
        </p:txBody>
      </p:sp>
      <p:sp>
        <p:nvSpPr>
          <p:cNvPr id="8" name="Google Shape;282;p23">
            <a:extLst>
              <a:ext uri="{FF2B5EF4-FFF2-40B4-BE49-F238E27FC236}">
                <a16:creationId xmlns:a16="http://schemas.microsoft.com/office/drawing/2014/main" id="{E3B5E310-ECDB-4021-8EDE-C9512E2E5860}"/>
              </a:ext>
            </a:extLst>
          </p:cNvPr>
          <p:cNvSpPr/>
          <p:nvPr/>
        </p:nvSpPr>
        <p:spPr>
          <a:xfrm>
            <a:off x="566058" y="3582297"/>
            <a:ext cx="10498431" cy="300719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9E05137-BC5C-42A8-A9CF-CE9F3A063BAD}"/>
              </a:ext>
            </a:extLst>
          </p:cNvPr>
          <p:cNvGrpSpPr/>
          <p:nvPr/>
        </p:nvGrpSpPr>
        <p:grpSpPr>
          <a:xfrm>
            <a:off x="1156188" y="1887928"/>
            <a:ext cx="1109004" cy="1980842"/>
            <a:chOff x="1184853" y="1366524"/>
            <a:chExt cx="1109004" cy="1980842"/>
          </a:xfrm>
        </p:grpSpPr>
        <p:sp>
          <p:nvSpPr>
            <p:cNvPr id="10" name="Google Shape;289;p23">
              <a:extLst>
                <a:ext uri="{FF2B5EF4-FFF2-40B4-BE49-F238E27FC236}">
                  <a16:creationId xmlns:a16="http://schemas.microsoft.com/office/drawing/2014/main" id="{D209F160-9191-4BD0-A441-1338E9F745F5}"/>
                </a:ext>
              </a:extLst>
            </p:cNvPr>
            <p:cNvSpPr/>
            <p:nvPr/>
          </p:nvSpPr>
          <p:spPr>
            <a:xfrm>
              <a:off x="1184853" y="1366524"/>
              <a:ext cx="1109004" cy="1255414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grpSp>
          <p:nvGrpSpPr>
            <p:cNvPr id="11" name="Google Shape;290;p23">
              <a:extLst>
                <a:ext uri="{FF2B5EF4-FFF2-40B4-BE49-F238E27FC236}">
                  <a16:creationId xmlns:a16="http://schemas.microsoft.com/office/drawing/2014/main" id="{88AF9B9F-7441-4931-8928-3AF49BDEA7C9}"/>
                </a:ext>
              </a:extLst>
            </p:cNvPr>
            <p:cNvGrpSpPr/>
            <p:nvPr/>
          </p:nvGrpSpPr>
          <p:grpSpPr>
            <a:xfrm>
              <a:off x="1533045" y="2936247"/>
              <a:ext cx="412328" cy="411119"/>
              <a:chOff x="3804994" y="2454571"/>
              <a:chExt cx="245610" cy="244891"/>
            </a:xfrm>
          </p:grpSpPr>
          <p:sp>
            <p:nvSpPr>
              <p:cNvPr id="12" name="Google Shape;291;p23">
                <a:extLst>
                  <a:ext uri="{FF2B5EF4-FFF2-40B4-BE49-F238E27FC236}">
                    <a16:creationId xmlns:a16="http://schemas.microsoft.com/office/drawing/2014/main" id="{C8E3EB80-40C3-4EC6-A903-4FC520DC723C}"/>
                  </a:ext>
                </a:extLst>
              </p:cNvPr>
              <p:cNvSpPr/>
              <p:nvPr/>
            </p:nvSpPr>
            <p:spPr>
              <a:xfrm>
                <a:off x="3804994" y="2454571"/>
                <a:ext cx="245610" cy="244891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24" extrusionOk="0">
                    <a:moveTo>
                      <a:pt x="2219" y="1"/>
                    </a:moveTo>
                    <a:cubicBezTo>
                      <a:pt x="991" y="1"/>
                      <a:pt x="1" y="991"/>
                      <a:pt x="1" y="2205"/>
                    </a:cubicBezTo>
                    <a:cubicBezTo>
                      <a:pt x="1" y="3433"/>
                      <a:pt x="991" y="4423"/>
                      <a:pt x="2219" y="4423"/>
                    </a:cubicBezTo>
                    <a:cubicBezTo>
                      <a:pt x="3433" y="4423"/>
                      <a:pt x="4437" y="3433"/>
                      <a:pt x="4437" y="2205"/>
                    </a:cubicBezTo>
                    <a:cubicBezTo>
                      <a:pt x="4437" y="991"/>
                      <a:pt x="3433" y="1"/>
                      <a:pt x="2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13" name="Google Shape;292;p23">
                <a:extLst>
                  <a:ext uri="{FF2B5EF4-FFF2-40B4-BE49-F238E27FC236}">
                    <a16:creationId xmlns:a16="http://schemas.microsoft.com/office/drawing/2014/main" id="{FB779D8E-092A-4C95-884D-DC43772D9B26}"/>
                  </a:ext>
                </a:extLst>
              </p:cNvPr>
              <p:cNvSpPr/>
              <p:nvPr/>
            </p:nvSpPr>
            <p:spPr>
              <a:xfrm>
                <a:off x="3862010" y="2510868"/>
                <a:ext cx="131579" cy="131579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2377" extrusionOk="0">
                    <a:moveTo>
                      <a:pt x="2377" y="1188"/>
                    </a:moveTo>
                    <a:cubicBezTo>
                      <a:pt x="2377" y="1848"/>
                      <a:pt x="1849" y="2376"/>
                      <a:pt x="1189" y="2376"/>
                    </a:cubicBezTo>
                    <a:cubicBezTo>
                      <a:pt x="529" y="2376"/>
                      <a:pt x="1" y="1848"/>
                      <a:pt x="1" y="1188"/>
                    </a:cubicBezTo>
                    <a:cubicBezTo>
                      <a:pt x="1" y="528"/>
                      <a:pt x="529" y="0"/>
                      <a:pt x="1189" y="0"/>
                    </a:cubicBezTo>
                    <a:cubicBezTo>
                      <a:pt x="1849" y="0"/>
                      <a:pt x="2377" y="528"/>
                      <a:pt x="2377" y="1188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D10479C-62DF-43FE-8450-742F76C83E6D}"/>
              </a:ext>
            </a:extLst>
          </p:cNvPr>
          <p:cNvGrpSpPr/>
          <p:nvPr/>
        </p:nvGrpSpPr>
        <p:grpSpPr>
          <a:xfrm>
            <a:off x="5322402" y="1887928"/>
            <a:ext cx="1109004" cy="1980842"/>
            <a:chOff x="4973773" y="1361350"/>
            <a:chExt cx="1109004" cy="1980842"/>
          </a:xfrm>
        </p:grpSpPr>
        <p:sp>
          <p:nvSpPr>
            <p:cNvPr id="15" name="Google Shape;299;p23">
              <a:extLst>
                <a:ext uri="{FF2B5EF4-FFF2-40B4-BE49-F238E27FC236}">
                  <a16:creationId xmlns:a16="http://schemas.microsoft.com/office/drawing/2014/main" id="{8C979A06-8E32-4E5D-A34E-C3E36C1EE27A}"/>
                </a:ext>
              </a:extLst>
            </p:cNvPr>
            <p:cNvSpPr/>
            <p:nvPr/>
          </p:nvSpPr>
          <p:spPr>
            <a:xfrm>
              <a:off x="4973773" y="1361350"/>
              <a:ext cx="1109004" cy="1255414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grpSp>
          <p:nvGrpSpPr>
            <p:cNvPr id="16" name="Google Shape;300;p23">
              <a:extLst>
                <a:ext uri="{FF2B5EF4-FFF2-40B4-BE49-F238E27FC236}">
                  <a16:creationId xmlns:a16="http://schemas.microsoft.com/office/drawing/2014/main" id="{C33E9FFA-1718-4038-8F6E-12175881979C}"/>
                </a:ext>
              </a:extLst>
            </p:cNvPr>
            <p:cNvGrpSpPr/>
            <p:nvPr/>
          </p:nvGrpSpPr>
          <p:grpSpPr>
            <a:xfrm>
              <a:off x="5321970" y="2931073"/>
              <a:ext cx="412328" cy="411119"/>
              <a:chOff x="3804994" y="2454571"/>
              <a:chExt cx="245610" cy="244891"/>
            </a:xfrm>
          </p:grpSpPr>
          <p:sp>
            <p:nvSpPr>
              <p:cNvPr id="17" name="Google Shape;301;p23">
                <a:extLst>
                  <a:ext uri="{FF2B5EF4-FFF2-40B4-BE49-F238E27FC236}">
                    <a16:creationId xmlns:a16="http://schemas.microsoft.com/office/drawing/2014/main" id="{0E842DF6-16D6-4B11-A40C-1C46DF695238}"/>
                  </a:ext>
                </a:extLst>
              </p:cNvPr>
              <p:cNvSpPr/>
              <p:nvPr/>
            </p:nvSpPr>
            <p:spPr>
              <a:xfrm>
                <a:off x="3804994" y="2454571"/>
                <a:ext cx="245610" cy="244891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24" extrusionOk="0">
                    <a:moveTo>
                      <a:pt x="2219" y="1"/>
                    </a:moveTo>
                    <a:cubicBezTo>
                      <a:pt x="991" y="1"/>
                      <a:pt x="1" y="991"/>
                      <a:pt x="1" y="2205"/>
                    </a:cubicBezTo>
                    <a:cubicBezTo>
                      <a:pt x="1" y="3433"/>
                      <a:pt x="991" y="4423"/>
                      <a:pt x="2219" y="4423"/>
                    </a:cubicBezTo>
                    <a:cubicBezTo>
                      <a:pt x="3433" y="4423"/>
                      <a:pt x="4437" y="3433"/>
                      <a:pt x="4437" y="2205"/>
                    </a:cubicBezTo>
                    <a:cubicBezTo>
                      <a:pt x="4437" y="991"/>
                      <a:pt x="3433" y="1"/>
                      <a:pt x="2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18" name="Google Shape;302;p23">
                <a:extLst>
                  <a:ext uri="{FF2B5EF4-FFF2-40B4-BE49-F238E27FC236}">
                    <a16:creationId xmlns:a16="http://schemas.microsoft.com/office/drawing/2014/main" id="{C83EFB07-53A4-40C1-9BCD-DE6479E4467C}"/>
                  </a:ext>
                </a:extLst>
              </p:cNvPr>
              <p:cNvSpPr/>
              <p:nvPr/>
            </p:nvSpPr>
            <p:spPr>
              <a:xfrm rot="-9381908">
                <a:off x="3862007" y="2510866"/>
                <a:ext cx="131581" cy="131581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2377" extrusionOk="0">
                    <a:moveTo>
                      <a:pt x="2377" y="1188"/>
                    </a:moveTo>
                    <a:cubicBezTo>
                      <a:pt x="2377" y="1848"/>
                      <a:pt x="1849" y="2376"/>
                      <a:pt x="1189" y="2376"/>
                    </a:cubicBezTo>
                    <a:cubicBezTo>
                      <a:pt x="529" y="2376"/>
                      <a:pt x="1" y="1848"/>
                      <a:pt x="1" y="1188"/>
                    </a:cubicBezTo>
                    <a:cubicBezTo>
                      <a:pt x="1" y="528"/>
                      <a:pt x="529" y="0"/>
                      <a:pt x="1189" y="0"/>
                    </a:cubicBezTo>
                    <a:cubicBezTo>
                      <a:pt x="1849" y="0"/>
                      <a:pt x="2377" y="528"/>
                      <a:pt x="2377" y="1188"/>
                    </a:cubicBezTo>
                    <a:close/>
                  </a:path>
                </a:pathLst>
              </a:cu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5CBCAE0-2A98-468C-A28D-AC6E7B3A8BD4}"/>
              </a:ext>
            </a:extLst>
          </p:cNvPr>
          <p:cNvGrpSpPr/>
          <p:nvPr/>
        </p:nvGrpSpPr>
        <p:grpSpPr>
          <a:xfrm>
            <a:off x="3239295" y="1887928"/>
            <a:ext cx="1109004" cy="1980842"/>
            <a:chOff x="2973233" y="1330964"/>
            <a:chExt cx="1109004" cy="1980842"/>
          </a:xfrm>
        </p:grpSpPr>
        <p:sp>
          <p:nvSpPr>
            <p:cNvPr id="20" name="Google Shape;321;p23">
              <a:extLst>
                <a:ext uri="{FF2B5EF4-FFF2-40B4-BE49-F238E27FC236}">
                  <a16:creationId xmlns:a16="http://schemas.microsoft.com/office/drawing/2014/main" id="{732C1C82-E452-4623-B62F-30584DAEBB45}"/>
                </a:ext>
              </a:extLst>
            </p:cNvPr>
            <p:cNvSpPr/>
            <p:nvPr/>
          </p:nvSpPr>
          <p:spPr>
            <a:xfrm>
              <a:off x="2973233" y="1330964"/>
              <a:ext cx="1109004" cy="1255414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grpSp>
          <p:nvGrpSpPr>
            <p:cNvPr id="21" name="Google Shape;322;p23">
              <a:extLst>
                <a:ext uri="{FF2B5EF4-FFF2-40B4-BE49-F238E27FC236}">
                  <a16:creationId xmlns:a16="http://schemas.microsoft.com/office/drawing/2014/main" id="{08B51CBC-45B0-460D-97BB-EA40A6F483B2}"/>
                </a:ext>
              </a:extLst>
            </p:cNvPr>
            <p:cNvGrpSpPr/>
            <p:nvPr/>
          </p:nvGrpSpPr>
          <p:grpSpPr>
            <a:xfrm>
              <a:off x="3324055" y="2900687"/>
              <a:ext cx="412328" cy="411119"/>
              <a:chOff x="3751105" y="2454571"/>
              <a:chExt cx="245610" cy="244891"/>
            </a:xfrm>
          </p:grpSpPr>
          <p:sp>
            <p:nvSpPr>
              <p:cNvPr id="22" name="Google Shape;323;p23">
                <a:extLst>
                  <a:ext uri="{FF2B5EF4-FFF2-40B4-BE49-F238E27FC236}">
                    <a16:creationId xmlns:a16="http://schemas.microsoft.com/office/drawing/2014/main" id="{4901036F-D1A5-4908-BA98-BB5117E15167}"/>
                  </a:ext>
                </a:extLst>
              </p:cNvPr>
              <p:cNvSpPr/>
              <p:nvPr/>
            </p:nvSpPr>
            <p:spPr>
              <a:xfrm>
                <a:off x="3751105" y="2454571"/>
                <a:ext cx="245610" cy="244891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24" extrusionOk="0">
                    <a:moveTo>
                      <a:pt x="2219" y="1"/>
                    </a:moveTo>
                    <a:cubicBezTo>
                      <a:pt x="991" y="1"/>
                      <a:pt x="1" y="991"/>
                      <a:pt x="1" y="2205"/>
                    </a:cubicBezTo>
                    <a:cubicBezTo>
                      <a:pt x="1" y="3433"/>
                      <a:pt x="991" y="4423"/>
                      <a:pt x="2219" y="4423"/>
                    </a:cubicBezTo>
                    <a:cubicBezTo>
                      <a:pt x="3433" y="4423"/>
                      <a:pt x="4437" y="3433"/>
                      <a:pt x="4437" y="2205"/>
                    </a:cubicBezTo>
                    <a:cubicBezTo>
                      <a:pt x="4437" y="991"/>
                      <a:pt x="3433" y="1"/>
                      <a:pt x="2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3" name="Google Shape;324;p23">
                <a:extLst>
                  <a:ext uri="{FF2B5EF4-FFF2-40B4-BE49-F238E27FC236}">
                    <a16:creationId xmlns:a16="http://schemas.microsoft.com/office/drawing/2014/main" id="{55D639F3-8B98-4EDE-9DD0-E30075333E3C}"/>
                  </a:ext>
                </a:extLst>
              </p:cNvPr>
              <p:cNvSpPr/>
              <p:nvPr/>
            </p:nvSpPr>
            <p:spPr>
              <a:xfrm>
                <a:off x="3808121" y="2510868"/>
                <a:ext cx="131579" cy="131579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2377" extrusionOk="0">
                    <a:moveTo>
                      <a:pt x="2377" y="1188"/>
                    </a:moveTo>
                    <a:cubicBezTo>
                      <a:pt x="2377" y="1848"/>
                      <a:pt x="1849" y="2376"/>
                      <a:pt x="1189" y="2376"/>
                    </a:cubicBezTo>
                    <a:cubicBezTo>
                      <a:pt x="529" y="2376"/>
                      <a:pt x="1" y="1848"/>
                      <a:pt x="1" y="1188"/>
                    </a:cubicBezTo>
                    <a:cubicBezTo>
                      <a:pt x="1" y="528"/>
                      <a:pt x="529" y="0"/>
                      <a:pt x="1189" y="0"/>
                    </a:cubicBezTo>
                    <a:cubicBezTo>
                      <a:pt x="1849" y="0"/>
                      <a:pt x="2377" y="528"/>
                      <a:pt x="2377" y="118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2E2D0BE-6DA0-48FF-A116-0201B261D847}"/>
              </a:ext>
            </a:extLst>
          </p:cNvPr>
          <p:cNvGrpSpPr/>
          <p:nvPr/>
        </p:nvGrpSpPr>
        <p:grpSpPr>
          <a:xfrm>
            <a:off x="7405509" y="1887928"/>
            <a:ext cx="1109004" cy="1980842"/>
            <a:chOff x="6765383" y="1291578"/>
            <a:chExt cx="1109004" cy="1980842"/>
          </a:xfrm>
        </p:grpSpPr>
        <p:sp>
          <p:nvSpPr>
            <p:cNvPr id="25" name="Google Shape;299;p23">
              <a:extLst>
                <a:ext uri="{FF2B5EF4-FFF2-40B4-BE49-F238E27FC236}">
                  <a16:creationId xmlns:a16="http://schemas.microsoft.com/office/drawing/2014/main" id="{9B59B80F-8397-4363-ACF5-848B20304D95}"/>
                </a:ext>
              </a:extLst>
            </p:cNvPr>
            <p:cNvSpPr/>
            <p:nvPr/>
          </p:nvSpPr>
          <p:spPr>
            <a:xfrm>
              <a:off x="6765383" y="1291578"/>
              <a:ext cx="1109004" cy="1255414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grpSp>
          <p:nvGrpSpPr>
            <p:cNvPr id="26" name="Google Shape;300;p23">
              <a:extLst>
                <a:ext uri="{FF2B5EF4-FFF2-40B4-BE49-F238E27FC236}">
                  <a16:creationId xmlns:a16="http://schemas.microsoft.com/office/drawing/2014/main" id="{20197648-426B-48F6-AFFB-8E04564CD45D}"/>
                </a:ext>
              </a:extLst>
            </p:cNvPr>
            <p:cNvGrpSpPr/>
            <p:nvPr/>
          </p:nvGrpSpPr>
          <p:grpSpPr>
            <a:xfrm>
              <a:off x="7113580" y="2861301"/>
              <a:ext cx="412328" cy="411119"/>
              <a:chOff x="3804994" y="2454571"/>
              <a:chExt cx="245610" cy="244891"/>
            </a:xfrm>
          </p:grpSpPr>
          <p:sp>
            <p:nvSpPr>
              <p:cNvPr id="27" name="Google Shape;301;p23">
                <a:extLst>
                  <a:ext uri="{FF2B5EF4-FFF2-40B4-BE49-F238E27FC236}">
                    <a16:creationId xmlns:a16="http://schemas.microsoft.com/office/drawing/2014/main" id="{AB0E85E7-3483-4B8B-9EAC-62760DE945C1}"/>
                  </a:ext>
                </a:extLst>
              </p:cNvPr>
              <p:cNvSpPr/>
              <p:nvPr/>
            </p:nvSpPr>
            <p:spPr>
              <a:xfrm>
                <a:off x="3804994" y="2454571"/>
                <a:ext cx="245610" cy="244891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24" extrusionOk="0">
                    <a:moveTo>
                      <a:pt x="2219" y="1"/>
                    </a:moveTo>
                    <a:cubicBezTo>
                      <a:pt x="991" y="1"/>
                      <a:pt x="1" y="991"/>
                      <a:pt x="1" y="2205"/>
                    </a:cubicBezTo>
                    <a:cubicBezTo>
                      <a:pt x="1" y="3433"/>
                      <a:pt x="991" y="4423"/>
                      <a:pt x="2219" y="4423"/>
                    </a:cubicBezTo>
                    <a:cubicBezTo>
                      <a:pt x="3433" y="4423"/>
                      <a:pt x="4437" y="3433"/>
                      <a:pt x="4437" y="2205"/>
                    </a:cubicBezTo>
                    <a:cubicBezTo>
                      <a:pt x="4437" y="991"/>
                      <a:pt x="3433" y="1"/>
                      <a:pt x="2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28" name="Google Shape;302;p23">
                <a:extLst>
                  <a:ext uri="{FF2B5EF4-FFF2-40B4-BE49-F238E27FC236}">
                    <a16:creationId xmlns:a16="http://schemas.microsoft.com/office/drawing/2014/main" id="{6CC643D6-B5FF-4B29-91F8-370FB316F155}"/>
                  </a:ext>
                </a:extLst>
              </p:cNvPr>
              <p:cNvSpPr/>
              <p:nvPr/>
            </p:nvSpPr>
            <p:spPr>
              <a:xfrm rot="-9381908">
                <a:off x="3862007" y="2510866"/>
                <a:ext cx="131581" cy="131581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2377" extrusionOk="0">
                    <a:moveTo>
                      <a:pt x="2377" y="1188"/>
                    </a:moveTo>
                    <a:cubicBezTo>
                      <a:pt x="2377" y="1848"/>
                      <a:pt x="1849" y="2376"/>
                      <a:pt x="1189" y="2376"/>
                    </a:cubicBezTo>
                    <a:cubicBezTo>
                      <a:pt x="529" y="2376"/>
                      <a:pt x="1" y="1848"/>
                      <a:pt x="1" y="1188"/>
                    </a:cubicBezTo>
                    <a:cubicBezTo>
                      <a:pt x="1" y="528"/>
                      <a:pt x="529" y="0"/>
                      <a:pt x="1189" y="0"/>
                    </a:cubicBezTo>
                    <a:cubicBezTo>
                      <a:pt x="1849" y="0"/>
                      <a:pt x="2377" y="528"/>
                      <a:pt x="2377" y="118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2397F26-62ED-4153-BDF3-80505256E827}"/>
              </a:ext>
            </a:extLst>
          </p:cNvPr>
          <p:cNvGrpSpPr/>
          <p:nvPr/>
        </p:nvGrpSpPr>
        <p:grpSpPr>
          <a:xfrm>
            <a:off x="9488616" y="1887928"/>
            <a:ext cx="1109004" cy="1980842"/>
            <a:chOff x="9431335" y="1325189"/>
            <a:chExt cx="1109004" cy="1980842"/>
          </a:xfrm>
        </p:grpSpPr>
        <p:sp>
          <p:nvSpPr>
            <p:cNvPr id="37" name="Google Shape;299;p23">
              <a:extLst>
                <a:ext uri="{FF2B5EF4-FFF2-40B4-BE49-F238E27FC236}">
                  <a16:creationId xmlns:a16="http://schemas.microsoft.com/office/drawing/2014/main" id="{1274C118-071F-4B7F-BE85-DBDE01540086}"/>
                </a:ext>
              </a:extLst>
            </p:cNvPr>
            <p:cNvSpPr/>
            <p:nvPr/>
          </p:nvSpPr>
          <p:spPr>
            <a:xfrm>
              <a:off x="9431335" y="1325189"/>
              <a:ext cx="1109004" cy="1255414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 cap="flat" cmpd="sng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grpSp>
          <p:nvGrpSpPr>
            <p:cNvPr id="38" name="Google Shape;300;p23">
              <a:extLst>
                <a:ext uri="{FF2B5EF4-FFF2-40B4-BE49-F238E27FC236}">
                  <a16:creationId xmlns:a16="http://schemas.microsoft.com/office/drawing/2014/main" id="{D6414A4E-87DF-497C-B590-DE701ED8EEB5}"/>
                </a:ext>
              </a:extLst>
            </p:cNvPr>
            <p:cNvGrpSpPr/>
            <p:nvPr/>
          </p:nvGrpSpPr>
          <p:grpSpPr>
            <a:xfrm>
              <a:off x="9779532" y="2894912"/>
              <a:ext cx="412328" cy="411119"/>
              <a:chOff x="3804994" y="2454571"/>
              <a:chExt cx="245610" cy="244891"/>
            </a:xfrm>
          </p:grpSpPr>
          <p:sp>
            <p:nvSpPr>
              <p:cNvPr id="39" name="Google Shape;301;p23">
                <a:extLst>
                  <a:ext uri="{FF2B5EF4-FFF2-40B4-BE49-F238E27FC236}">
                    <a16:creationId xmlns:a16="http://schemas.microsoft.com/office/drawing/2014/main" id="{CA53A7CD-4B2C-4428-B36A-DCBAB6AB2286}"/>
                  </a:ext>
                </a:extLst>
              </p:cNvPr>
              <p:cNvSpPr/>
              <p:nvPr/>
            </p:nvSpPr>
            <p:spPr>
              <a:xfrm>
                <a:off x="3804994" y="2454571"/>
                <a:ext cx="245610" cy="244891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24" extrusionOk="0">
                    <a:moveTo>
                      <a:pt x="2219" y="1"/>
                    </a:moveTo>
                    <a:cubicBezTo>
                      <a:pt x="991" y="1"/>
                      <a:pt x="1" y="991"/>
                      <a:pt x="1" y="2205"/>
                    </a:cubicBezTo>
                    <a:cubicBezTo>
                      <a:pt x="1" y="3433"/>
                      <a:pt x="991" y="4423"/>
                      <a:pt x="2219" y="4423"/>
                    </a:cubicBezTo>
                    <a:cubicBezTo>
                      <a:pt x="3433" y="4423"/>
                      <a:pt x="4437" y="3433"/>
                      <a:pt x="4437" y="2205"/>
                    </a:cubicBezTo>
                    <a:cubicBezTo>
                      <a:pt x="4437" y="991"/>
                      <a:pt x="3433" y="1"/>
                      <a:pt x="2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  <p:sp>
            <p:nvSpPr>
              <p:cNvPr id="40" name="Google Shape;302;p23">
                <a:extLst>
                  <a:ext uri="{FF2B5EF4-FFF2-40B4-BE49-F238E27FC236}">
                    <a16:creationId xmlns:a16="http://schemas.microsoft.com/office/drawing/2014/main" id="{D1137A00-F6EF-47E3-8B87-167D5986E8AA}"/>
                  </a:ext>
                </a:extLst>
              </p:cNvPr>
              <p:cNvSpPr/>
              <p:nvPr/>
            </p:nvSpPr>
            <p:spPr>
              <a:xfrm rot="-9381908">
                <a:off x="3862007" y="2510866"/>
                <a:ext cx="131581" cy="131581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2377" extrusionOk="0">
                    <a:moveTo>
                      <a:pt x="2377" y="1188"/>
                    </a:moveTo>
                    <a:cubicBezTo>
                      <a:pt x="2377" y="1848"/>
                      <a:pt x="1849" y="2376"/>
                      <a:pt x="1189" y="2376"/>
                    </a:cubicBezTo>
                    <a:cubicBezTo>
                      <a:pt x="529" y="2376"/>
                      <a:pt x="1" y="1848"/>
                      <a:pt x="1" y="1188"/>
                    </a:cubicBezTo>
                    <a:cubicBezTo>
                      <a:pt x="1" y="528"/>
                      <a:pt x="529" y="0"/>
                      <a:pt x="1189" y="0"/>
                    </a:cubicBezTo>
                    <a:cubicBezTo>
                      <a:pt x="1849" y="0"/>
                      <a:pt x="2377" y="528"/>
                      <a:pt x="2377" y="1188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j-lt"/>
                </a:endParaRP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636DD1E-C735-437B-84BD-D6A1E907412F}"/>
              </a:ext>
            </a:extLst>
          </p:cNvPr>
          <p:cNvGrpSpPr/>
          <p:nvPr/>
        </p:nvGrpSpPr>
        <p:grpSpPr>
          <a:xfrm>
            <a:off x="624840" y="4106985"/>
            <a:ext cx="2171700" cy="1298150"/>
            <a:chOff x="624840" y="3510635"/>
            <a:chExt cx="2171700" cy="129815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684EA57-1A4A-4E41-8428-8E2CC5B9A13F}"/>
                </a:ext>
              </a:extLst>
            </p:cNvPr>
            <p:cNvSpPr txBox="1"/>
            <p:nvPr/>
          </p:nvSpPr>
          <p:spPr>
            <a:xfrm>
              <a:off x="624840" y="3510635"/>
              <a:ext cx="2171700" cy="5232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Enforced SOP Compliance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E7297C4-00A5-46FF-9C41-08750F20010D}"/>
                </a:ext>
              </a:extLst>
            </p:cNvPr>
            <p:cNvSpPr txBox="1"/>
            <p:nvPr/>
          </p:nvSpPr>
          <p:spPr>
            <a:xfrm>
              <a:off x="847847" y="4231704"/>
              <a:ext cx="1725686" cy="57708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pPr marL="0" indent="0" algn="ctr">
                <a:buNone/>
              </a:pPr>
              <a:r>
                <a:rPr lang="en-US" sz="1050" dirty="0"/>
                <a:t>Digital checkpoints ensure rule-based operations</a:t>
              </a:r>
              <a:endParaRPr lang="en-IN" sz="105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3EAE065-BEF8-4219-935D-E130603B3367}"/>
              </a:ext>
            </a:extLst>
          </p:cNvPr>
          <p:cNvGrpSpPr/>
          <p:nvPr/>
        </p:nvGrpSpPr>
        <p:grpSpPr>
          <a:xfrm>
            <a:off x="2838299" y="4108508"/>
            <a:ext cx="1879193" cy="1296627"/>
            <a:chOff x="755192" y="3512158"/>
            <a:chExt cx="1879193" cy="129662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7A38428-8F58-49C9-A3DA-3E0A8818F6A7}"/>
                </a:ext>
              </a:extLst>
            </p:cNvPr>
            <p:cNvSpPr txBox="1"/>
            <p:nvPr/>
          </p:nvSpPr>
          <p:spPr>
            <a:xfrm>
              <a:off x="755192" y="3512158"/>
              <a:ext cx="1879193" cy="5232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Audit-Ready Records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968BDF8-6124-40D6-88DA-B096FD4256EE}"/>
                </a:ext>
              </a:extLst>
            </p:cNvPr>
            <p:cNvSpPr txBox="1"/>
            <p:nvPr/>
          </p:nvSpPr>
          <p:spPr>
            <a:xfrm>
              <a:off x="847847" y="4231704"/>
              <a:ext cx="1725686" cy="57708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pPr marL="0" indent="0" algn="ctr">
                <a:buNone/>
              </a:pPr>
              <a:r>
                <a:rPr lang="en-US" sz="1050" dirty="0"/>
                <a:t>Timestamped logs, photo/video evidence, and compliance history</a:t>
              </a:r>
              <a:endParaRPr lang="en-IN" sz="105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97FCB84-20C6-438E-9A96-64472DD2F513}"/>
              </a:ext>
            </a:extLst>
          </p:cNvPr>
          <p:cNvGrpSpPr/>
          <p:nvPr/>
        </p:nvGrpSpPr>
        <p:grpSpPr>
          <a:xfrm>
            <a:off x="4791054" y="4106985"/>
            <a:ext cx="2171700" cy="1298150"/>
            <a:chOff x="624840" y="3510635"/>
            <a:chExt cx="2171700" cy="129815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0F7CE62-BA1C-4C17-A31B-BDD78A0B8A3B}"/>
                </a:ext>
              </a:extLst>
            </p:cNvPr>
            <p:cNvSpPr txBox="1"/>
            <p:nvPr/>
          </p:nvSpPr>
          <p:spPr>
            <a:xfrm>
              <a:off x="624840" y="3510635"/>
              <a:ext cx="2171700" cy="5232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Tamper-Proof Monitoring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8989DA7-6E80-45AB-A012-98AF89F7D236}"/>
                </a:ext>
              </a:extLst>
            </p:cNvPr>
            <p:cNvSpPr txBox="1"/>
            <p:nvPr/>
          </p:nvSpPr>
          <p:spPr>
            <a:xfrm>
              <a:off x="847847" y="4231704"/>
              <a:ext cx="1725686" cy="57708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pPr marL="0" indent="0" algn="ctr">
                <a:buNone/>
              </a:pPr>
              <a:r>
                <a:rPr lang="en-US" sz="1050" dirty="0"/>
                <a:t>Alerts and RCA trail for e-seal and consignment handling</a:t>
              </a:r>
              <a:endParaRPr lang="en-IN" sz="105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F5DE169-AA5B-4CC5-902D-1BBF3290ADA0}"/>
              </a:ext>
            </a:extLst>
          </p:cNvPr>
          <p:cNvGrpSpPr/>
          <p:nvPr/>
        </p:nvGrpSpPr>
        <p:grpSpPr>
          <a:xfrm>
            <a:off x="7078920" y="4106985"/>
            <a:ext cx="1762183" cy="1298150"/>
            <a:chOff x="829599" y="3510635"/>
            <a:chExt cx="1762183" cy="129815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82B42A0-C66A-4E22-9989-B8E50892BE84}"/>
                </a:ext>
              </a:extLst>
            </p:cNvPr>
            <p:cNvSpPr txBox="1"/>
            <p:nvPr/>
          </p:nvSpPr>
          <p:spPr>
            <a:xfrm>
              <a:off x="829599" y="3510635"/>
              <a:ext cx="1762183" cy="5232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Real-Time Visibility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0B7945-EF56-4E6F-8D84-053DA98327A1}"/>
                </a:ext>
              </a:extLst>
            </p:cNvPr>
            <p:cNvSpPr txBox="1"/>
            <p:nvPr/>
          </p:nvSpPr>
          <p:spPr>
            <a:xfrm>
              <a:off x="847847" y="4231704"/>
              <a:ext cx="1725686" cy="57708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pPr marL="0" indent="0" algn="ctr">
                <a:buNone/>
              </a:pPr>
              <a:r>
                <a:rPr lang="en-US" sz="1050" dirty="0"/>
                <a:t>Dashboards for safety performance, violation trends, and escalations</a:t>
              </a:r>
              <a:endParaRPr lang="en-IN" sz="105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F68536F-5640-44E6-8137-6224124C6B95}"/>
              </a:ext>
            </a:extLst>
          </p:cNvPr>
          <p:cNvGrpSpPr/>
          <p:nvPr/>
        </p:nvGrpSpPr>
        <p:grpSpPr>
          <a:xfrm>
            <a:off x="8957268" y="4106985"/>
            <a:ext cx="2171700" cy="1298150"/>
            <a:chOff x="624840" y="3510635"/>
            <a:chExt cx="2171700" cy="129815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8A8C43E-D9E4-47E5-94FB-A19CC313C18F}"/>
                </a:ext>
              </a:extLst>
            </p:cNvPr>
            <p:cNvSpPr txBox="1"/>
            <p:nvPr/>
          </p:nvSpPr>
          <p:spPr>
            <a:xfrm>
              <a:off x="624840" y="3510635"/>
              <a:ext cx="2171700" cy="52322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Empowered Safety Teams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D4E5557-D056-437C-A861-D6CBA772FBC3}"/>
                </a:ext>
              </a:extLst>
            </p:cNvPr>
            <p:cNvSpPr txBox="1"/>
            <p:nvPr/>
          </p:nvSpPr>
          <p:spPr>
            <a:xfrm>
              <a:off x="847847" y="4231704"/>
              <a:ext cx="1725686" cy="57708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indent="-171450">
                <a:buFont typeface="Arial" panose="020B0604020202020204" pitchFamily="34" charset="0"/>
                <a:buChar char="•"/>
                <a:defRPr sz="1000"/>
              </a:lvl1pPr>
              <a:lvl2pPr marL="0" marR="0" lvl="1" indent="0" algn="ctr" fontAlgn="auto">
                <a:lnSpc>
                  <a:spcPct val="100000"/>
                </a:lnSpc>
                <a:spcBef>
                  <a:spcPts val="1500"/>
                </a:spcBef>
                <a:spcAft>
                  <a:spcPts val="800"/>
                </a:spcAft>
                <a:buClr>
                  <a:srgbClr val="75737D"/>
                </a:buClr>
                <a:buSzPct val="110000"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/>
                </a:defRPr>
              </a:lvl2pPr>
            </a:lstStyle>
            <a:p>
              <a:pPr marL="0" indent="0" algn="ctr">
                <a:buNone/>
              </a:pPr>
              <a:r>
                <a:rPr lang="en-US" sz="1050" dirty="0"/>
                <a:t>Mobile tools to inspect, record, and report field audits.</a:t>
              </a:r>
              <a:endParaRPr lang="en-IN" sz="1050" dirty="0"/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1AB85EFB-1478-4AA3-9E68-FDE1A5540B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5454" y="2100945"/>
            <a:ext cx="595041" cy="59504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1C20C26-9ECE-4957-B0D1-BEFECE93DFF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47" y="2100945"/>
            <a:ext cx="595041" cy="59504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0319A30-05AF-4E8F-88C4-AFA5C29E243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40" y="2100945"/>
            <a:ext cx="595041" cy="59504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16EB66F-AAEA-47B0-B403-18BC716E5BD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209" y="2111640"/>
            <a:ext cx="595041" cy="595041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1C36987-6511-4293-A468-2813C4BAD57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024" y="2100945"/>
            <a:ext cx="595041" cy="59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3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DEF4-8785-4EBD-9BD1-B510A0292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spAutoFit/>
          </a:bodyPr>
          <a:lstStyle/>
          <a:p>
            <a:r>
              <a:rPr lang="en-US" dirty="0">
                <a:latin typeface="+mj-lt"/>
              </a:rPr>
              <a:t>One Stop Solution for Plant &amp; Assets Visibility…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47820E-EFB2-43EE-AD40-22FDCC2A85FE}"/>
              </a:ext>
            </a:extLst>
          </p:cNvPr>
          <p:cNvSpPr txBox="1"/>
          <p:nvPr/>
        </p:nvSpPr>
        <p:spPr>
          <a:xfrm>
            <a:off x="548639" y="5703780"/>
            <a:ext cx="6410425" cy="5847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Our dashboards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provides complete control &amp; visibility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across all processes including Vehicle, Employee &amp; Asset tracking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3CB9BB-E815-4D92-A9D5-0D124E91FF2D}"/>
              </a:ext>
            </a:extLst>
          </p:cNvPr>
          <p:cNvGrpSpPr/>
          <p:nvPr/>
        </p:nvGrpSpPr>
        <p:grpSpPr>
          <a:xfrm>
            <a:off x="7055926" y="1052572"/>
            <a:ext cx="4067249" cy="2194560"/>
            <a:chOff x="7927990" y="3800858"/>
            <a:chExt cx="4067249" cy="219456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957D1A2-23E1-4D6E-A61F-F1FE8E66F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2217" y="3800858"/>
              <a:ext cx="3903022" cy="2194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F70FBD-5A75-454B-84D4-5DDD907FC746}"/>
                </a:ext>
              </a:extLst>
            </p:cNvPr>
            <p:cNvSpPr txBox="1"/>
            <p:nvPr/>
          </p:nvSpPr>
          <p:spPr>
            <a:xfrm rot="16200000" flipH="1">
              <a:off x="6912823" y="4816025"/>
              <a:ext cx="2194560" cy="16422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  <a:miter lim="800000"/>
            </a:ln>
          </p:spPr>
          <p:txBody>
            <a:bodyPr wrap="none" lIns="0" tIns="0" rIns="0" bIns="0" rtlCol="0"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spcAft>
                  <a:spcPts val="0"/>
                </a:spcAft>
                <a:defRPr sz="1000"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Asset Tracking Dashboard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437E24-7A28-43C0-BFCC-D962E06D4594}"/>
              </a:ext>
            </a:extLst>
          </p:cNvPr>
          <p:cNvGrpSpPr/>
          <p:nvPr/>
        </p:nvGrpSpPr>
        <p:grpSpPr>
          <a:xfrm>
            <a:off x="7492692" y="2547814"/>
            <a:ext cx="4067247" cy="2194562"/>
            <a:chOff x="7492692" y="2423895"/>
            <a:chExt cx="4067247" cy="21945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30A9A1F-2824-448B-8554-1BFD5EEC1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6917" y="2423897"/>
              <a:ext cx="3903022" cy="2194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5A4CB9-08C7-469A-9665-040DFCC24481}"/>
                </a:ext>
              </a:extLst>
            </p:cNvPr>
            <p:cNvSpPr txBox="1"/>
            <p:nvPr/>
          </p:nvSpPr>
          <p:spPr>
            <a:xfrm rot="16200000">
              <a:off x="6477524" y="3439063"/>
              <a:ext cx="2194561" cy="16422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  <a:miter lim="800000"/>
            </a:ln>
          </p:spPr>
          <p:txBody>
            <a:bodyPr wrap="none" lIns="0" tIns="0" rIns="0" bIns="0" rtlCol="0"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spcAft>
                  <a:spcPts val="0"/>
                </a:spcAft>
                <a:defRPr sz="1000"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User Tracking Dashboard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01E9A5-BE53-4DD3-9B47-2D4734FBA2E8}"/>
              </a:ext>
            </a:extLst>
          </p:cNvPr>
          <p:cNvGrpSpPr/>
          <p:nvPr/>
        </p:nvGrpSpPr>
        <p:grpSpPr>
          <a:xfrm>
            <a:off x="170863" y="1042256"/>
            <a:ext cx="6802949" cy="4107263"/>
            <a:chOff x="7055926" y="1041300"/>
            <a:chExt cx="4068714" cy="220019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648ADF-013A-4D42-8036-A999B9B99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0152" y="1046935"/>
              <a:ext cx="3904488" cy="2194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F69C47-93BA-4A14-AFF3-00865D16A490}"/>
                </a:ext>
              </a:extLst>
            </p:cNvPr>
            <p:cNvSpPr txBox="1"/>
            <p:nvPr/>
          </p:nvSpPr>
          <p:spPr>
            <a:xfrm rot="16200000">
              <a:off x="6040759" y="2056467"/>
              <a:ext cx="2194560" cy="16422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  <a:miter lim="800000"/>
            </a:ln>
          </p:spPr>
          <p:txBody>
            <a:bodyPr wrap="none" lIns="0" tIns="0" rIns="0" bIns="0" rtlCol="0">
              <a:no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spcAft>
                  <a:spcPts val="0"/>
                </a:spcAft>
                <a:defRPr sz="1000">
                  <a:solidFill>
                    <a:schemeClr val="accent1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Gate Entry Dashboard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CD90EA7-EC19-49AD-92F0-7C527EA42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584" y="3970664"/>
            <a:ext cx="4031778" cy="22669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95A4CB9-08C7-469A-9665-040DFCC24481}"/>
              </a:ext>
            </a:extLst>
          </p:cNvPr>
          <p:cNvSpPr txBox="1"/>
          <p:nvPr/>
        </p:nvSpPr>
        <p:spPr>
          <a:xfrm rot="16200000">
            <a:off x="6719407" y="5002968"/>
            <a:ext cx="2304000" cy="18064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miter lim="800000"/>
          </a:ln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algn="ctr">
              <a:spcBef>
                <a:spcPts val="60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solidFill>
                  <a:srgbClr val="FFFFFF"/>
                </a:solidFill>
                <a:latin typeface="Arial" panose="020B0604020202020204"/>
              </a:rPr>
              <a:t>Summary </a:t>
            </a: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49349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C5CA-1128-443F-98E4-CA2D837D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spAutoFit/>
          </a:bodyPr>
          <a:lstStyle/>
          <a:p>
            <a:r>
              <a:rPr lang="en-US" dirty="0">
                <a:latin typeface="+mj-lt"/>
              </a:rPr>
              <a:t>In-Plant Trip 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2382DA-B13A-4D4B-9BCD-C6949425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934144"/>
            <a:ext cx="6093314" cy="3426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C81F70-57F8-436A-896C-85A83B5B2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343" y="2929688"/>
            <a:ext cx="6093314" cy="3426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E1AEF8-36DE-4362-A2AE-964E088CD83D}"/>
              </a:ext>
            </a:extLst>
          </p:cNvPr>
          <p:cNvSpPr txBox="1"/>
          <p:nvPr/>
        </p:nvSpPr>
        <p:spPr>
          <a:xfrm>
            <a:off x="6972897" y="1572006"/>
            <a:ext cx="4459816" cy="5847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Stage-based tracking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help you measure, analyze and reduce Turnaround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8AD505-718E-4B10-A7E2-7BD1ED448B9F}"/>
              </a:ext>
            </a:extLst>
          </p:cNvPr>
          <p:cNvSpPr txBox="1"/>
          <p:nvPr/>
        </p:nvSpPr>
        <p:spPr>
          <a:xfrm>
            <a:off x="485140" y="4942517"/>
            <a:ext cx="5121703" cy="83099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Real Time Trip Status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actively validate bottlenecks and take optimization actions to reduce detentions and streamline the processes.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588155-6C60-4398-90A3-BA12A0CEB444}"/>
              </a:ext>
            </a:extLst>
          </p:cNvPr>
          <p:cNvSpPr txBox="1"/>
          <p:nvPr/>
        </p:nvSpPr>
        <p:spPr>
          <a:xfrm>
            <a:off x="2297672" y="4495288"/>
            <a:ext cx="1971772" cy="272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Trip Management dashboard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679BE6-4DEB-4AA5-8709-8564D5E43024}"/>
              </a:ext>
            </a:extLst>
          </p:cNvPr>
          <p:cNvSpPr txBox="1"/>
          <p:nvPr/>
        </p:nvSpPr>
        <p:spPr>
          <a:xfrm>
            <a:off x="7817741" y="2656907"/>
            <a:ext cx="1971772" cy="272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Trip Schedule dashboard </a:t>
            </a:r>
          </a:p>
        </p:txBody>
      </p:sp>
    </p:spTree>
    <p:extLst>
      <p:ext uri="{BB962C8B-B14F-4D97-AF65-F5344CB8AC3E}">
        <p14:creationId xmlns:p14="http://schemas.microsoft.com/office/powerpoint/2010/main" val="129159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D2ED-26A9-4F72-A4A2-675D0EE8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spAutoFit/>
          </a:bodyPr>
          <a:lstStyle/>
          <a:p>
            <a:r>
              <a:rPr lang="en-US" dirty="0">
                <a:latin typeface="+mj-lt"/>
              </a:rPr>
              <a:t>SMART Dock &amp; Parking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93067-E0CE-4039-BB34-054AED473DD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4641288"/>
            <a:ext cx="3049693" cy="17147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99AB25-A5AD-4266-8400-9BFD190D42B2}"/>
              </a:ext>
            </a:extLst>
          </p:cNvPr>
          <p:cNvSpPr txBox="1"/>
          <p:nvPr/>
        </p:nvSpPr>
        <p:spPr>
          <a:xfrm>
            <a:off x="6976367" y="1322056"/>
            <a:ext cx="4459816" cy="107721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Managing parking and dockyard slots to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reduce idle time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ensure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smooth vehicle movement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loading and unloading materials.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95698A-12D8-42DB-9B28-19A9CA169733}"/>
              </a:ext>
            </a:extLst>
          </p:cNvPr>
          <p:cNvSpPr txBox="1"/>
          <p:nvPr/>
        </p:nvSpPr>
        <p:spPr>
          <a:xfrm>
            <a:off x="2524566" y="4346554"/>
            <a:ext cx="1971772" cy="272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Dock Management dashboard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A4F9A-F80F-403C-BC3D-CE1679BC1FBA}"/>
              </a:ext>
            </a:extLst>
          </p:cNvPr>
          <p:cNvSpPr txBox="1"/>
          <p:nvPr/>
        </p:nvSpPr>
        <p:spPr>
          <a:xfrm>
            <a:off x="8084441" y="2649450"/>
            <a:ext cx="1971772" cy="272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Parking dashboard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683DFC-2435-4549-890F-8A54DA243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2" y="908984"/>
            <a:ext cx="6098471" cy="3429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E3DB10-7788-4219-B828-9C643D3E8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727" y="2926788"/>
            <a:ext cx="6098473" cy="3429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624852-C415-403F-A8BF-65F7CAC0E55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601" y="5243788"/>
            <a:ext cx="1445857" cy="1112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680B51-228E-4A30-996A-C32A685016EB}"/>
              </a:ext>
            </a:extLst>
          </p:cNvPr>
          <p:cNvCxnSpPr>
            <a:cxnSpLocks/>
          </p:cNvCxnSpPr>
          <p:nvPr/>
        </p:nvCxnSpPr>
        <p:spPr>
          <a:xfrm>
            <a:off x="2324100" y="5695950"/>
            <a:ext cx="1898650" cy="342900"/>
          </a:xfrm>
          <a:prstGeom prst="straightConnector1">
            <a:avLst/>
          </a:prstGeom>
          <a:ln w="9525" cap="rnd">
            <a:solidFill>
              <a:schemeClr val="accent1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3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C5CA-1128-443F-98E4-CA2D837D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spAutoFit/>
          </a:bodyPr>
          <a:lstStyle/>
          <a:p>
            <a:r>
              <a:rPr lang="en-US" dirty="0">
                <a:latin typeface="+mj-lt"/>
              </a:rPr>
              <a:t>Checklist &amp; Alerts Dashboard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335C67C-68F8-4654-8144-6FFAC1805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54079"/>
            <a:ext cx="6098471" cy="3355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18AC4A-197B-47D4-AC46-E9EFC249A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0" y="2965759"/>
            <a:ext cx="6098470" cy="3355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E5F2BE-0EDC-4234-B552-AF28BB4C1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" y="4914577"/>
            <a:ext cx="2565773" cy="12220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41F18C-9F1D-4C26-89EB-CB9C051F82B5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3155053" y="5249333"/>
            <a:ext cx="6048214" cy="276276"/>
          </a:xfrm>
          <a:prstGeom prst="straightConnector1">
            <a:avLst/>
          </a:prstGeom>
          <a:ln w="9525" cap="rnd">
            <a:solidFill>
              <a:schemeClr val="accent1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FD2A496E-97FD-4C48-9F48-DCD33650FA2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812" y="2186863"/>
            <a:ext cx="5022248" cy="2823869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89B79E5-5802-4B09-B315-2F9FCA073D10}"/>
              </a:ext>
            </a:extLst>
          </p:cNvPr>
          <p:cNvSpPr txBox="1"/>
          <p:nvPr/>
        </p:nvSpPr>
        <p:spPr>
          <a:xfrm>
            <a:off x="1122210" y="4425985"/>
            <a:ext cx="1971772" cy="272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Checklist dashboard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E8BC38-0449-4D5F-BA37-CEE184BE9077}"/>
              </a:ext>
            </a:extLst>
          </p:cNvPr>
          <p:cNvSpPr txBox="1"/>
          <p:nvPr/>
        </p:nvSpPr>
        <p:spPr>
          <a:xfrm>
            <a:off x="8566984" y="1823529"/>
            <a:ext cx="1971772" cy="272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Alert dashboard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72EE46-1435-4818-AE54-83F1836B9D5B}"/>
              </a:ext>
            </a:extLst>
          </p:cNvPr>
          <p:cNvSpPr txBox="1"/>
          <p:nvPr/>
        </p:nvSpPr>
        <p:spPr>
          <a:xfrm>
            <a:off x="6862812" y="903617"/>
            <a:ext cx="4459816" cy="83099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F833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Optimize Entry/Exit Time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Process for Fleets &amp; proactive Alerts Dashboard for any violations </a:t>
            </a:r>
          </a:p>
        </p:txBody>
      </p:sp>
    </p:spTree>
    <p:extLst>
      <p:ext uri="{BB962C8B-B14F-4D97-AF65-F5344CB8AC3E}">
        <p14:creationId xmlns:p14="http://schemas.microsoft.com/office/powerpoint/2010/main" val="2189197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049955"/>
      </p:ext>
    </p:extLst>
  </p:cSld>
  <p:clrMapOvr>
    <a:masterClrMapping/>
  </p:clrMapOvr>
</p:sld>
</file>

<file path=ppt/theme/theme1.xml><?xml version="1.0" encoding="utf-8"?>
<a:theme xmlns:a="http://schemas.openxmlformats.org/drawingml/2006/main" name="2_ZS PPT 16x9">
  <a:themeElements>
    <a:clrScheme name="Custom 1">
      <a:dk1>
        <a:srgbClr val="000000"/>
      </a:dk1>
      <a:lt1>
        <a:srgbClr val="FFFFFF"/>
      </a:lt1>
      <a:dk2>
        <a:srgbClr val="75737D"/>
      </a:dk2>
      <a:lt2>
        <a:srgbClr val="3756A6"/>
      </a:lt2>
      <a:accent1>
        <a:srgbClr val="DF8339"/>
      </a:accent1>
      <a:accent2>
        <a:srgbClr val="3D88C2"/>
      </a:accent2>
      <a:accent3>
        <a:srgbClr val="0E1422"/>
      </a:accent3>
      <a:accent4>
        <a:srgbClr val="3756A6"/>
      </a:accent4>
      <a:accent5>
        <a:srgbClr val="EFE9F3"/>
      </a:accent5>
      <a:accent6>
        <a:srgbClr val="7FD07D"/>
      </a:accent6>
      <a:hlink>
        <a:srgbClr val="1A1628"/>
      </a:hlink>
      <a:folHlink>
        <a:srgbClr val="005F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2.xml><?xml version="1.0" encoding="utf-8"?>
<a:theme xmlns:a="http://schemas.openxmlformats.org/drawingml/2006/main" name="3_ZS PPT 16x9">
  <a:themeElements>
    <a:clrScheme name="Custom 1">
      <a:dk1>
        <a:srgbClr val="000000"/>
      </a:dk1>
      <a:lt1>
        <a:srgbClr val="FFFFFF"/>
      </a:lt1>
      <a:dk2>
        <a:srgbClr val="75737D"/>
      </a:dk2>
      <a:lt2>
        <a:srgbClr val="3756A6"/>
      </a:lt2>
      <a:accent1>
        <a:srgbClr val="DF8339"/>
      </a:accent1>
      <a:accent2>
        <a:srgbClr val="3D88C2"/>
      </a:accent2>
      <a:accent3>
        <a:srgbClr val="0E1422"/>
      </a:accent3>
      <a:accent4>
        <a:srgbClr val="3756A6"/>
      </a:accent4>
      <a:accent5>
        <a:srgbClr val="EFE9F3"/>
      </a:accent5>
      <a:accent6>
        <a:srgbClr val="7FD07D"/>
      </a:accent6>
      <a:hlink>
        <a:srgbClr val="1A1628"/>
      </a:hlink>
      <a:folHlink>
        <a:srgbClr val="005F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673</Words>
  <Application>Microsoft Office PowerPoint</Application>
  <PresentationFormat>Widescreen</PresentationFormat>
  <Paragraphs>107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(Body)</vt:lpstr>
      <vt:lpstr>Calibri</vt:lpstr>
      <vt:lpstr>Times New Roman</vt:lpstr>
      <vt:lpstr>Wingdings 2</vt:lpstr>
      <vt:lpstr>2_ZS PPT 16x9</vt:lpstr>
      <vt:lpstr>3_ZS PPT 16x9</vt:lpstr>
      <vt:lpstr>PowerPoint Presentation</vt:lpstr>
      <vt:lpstr>Survey Objective – Amazon Warehouse Safety &amp; Compliance</vt:lpstr>
      <vt:lpstr>Current Warehouse Workflow</vt:lpstr>
      <vt:lpstr> Key Gaps Identified</vt:lpstr>
      <vt:lpstr>Benefits of Axestrack Digital Solution</vt:lpstr>
      <vt:lpstr>One Stop Solution for Plant &amp; Assets Visibility…</vt:lpstr>
      <vt:lpstr>In-Plant Trip Management</vt:lpstr>
      <vt:lpstr>SMART Dock &amp; Parking Management </vt:lpstr>
      <vt:lpstr>Checklist &amp; Alerts 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Axestrack Introduction &amp; Capabilities Overview</dc:title>
  <dc:creator>Dilip Kumar Jangir</dc:creator>
  <cp:lastModifiedBy>DELL</cp:lastModifiedBy>
  <cp:revision>301</cp:revision>
  <dcterms:created xsi:type="dcterms:W3CDTF">2024-07-02T08:02:09Z</dcterms:created>
  <dcterms:modified xsi:type="dcterms:W3CDTF">2025-06-26T10:31:55Z</dcterms:modified>
</cp:coreProperties>
</file>