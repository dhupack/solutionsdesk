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  <p:sldMasterId id="2147483726" r:id="rId2"/>
  </p:sldMasterIdLst>
  <p:notesMasterIdLst>
    <p:notesMasterId r:id="rId8"/>
  </p:notesMasterIdLst>
  <p:sldIdLst>
    <p:sldId id="2146847507" r:id="rId3"/>
    <p:sldId id="2146847614" r:id="rId4"/>
    <p:sldId id="2146847615" r:id="rId5"/>
    <p:sldId id="2146847616" r:id="rId6"/>
    <p:sldId id="214684753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9CC9"/>
    <a:srgbClr val="45B742"/>
    <a:srgbClr val="E5F6E5"/>
    <a:srgbClr val="ECB588"/>
    <a:srgbClr val="F9E6D7"/>
    <a:srgbClr val="9DEBB1"/>
    <a:srgbClr val="B2E3B1"/>
    <a:srgbClr val="82F297"/>
    <a:srgbClr val="F8B2B2"/>
    <a:srgbClr val="FC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5165" autoAdjust="0"/>
  </p:normalViewPr>
  <p:slideViewPr>
    <p:cSldViewPr snapToGrid="0">
      <p:cViewPr>
        <p:scale>
          <a:sx n="75" d="100"/>
          <a:sy n="75" d="100"/>
        </p:scale>
        <p:origin x="576" y="-3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86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0B966-7339-4658-814C-91EF3CC0E189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D4684-C96B-4C31-887A-1631E4AD15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85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D4684-C96B-4C31-887A-1631E4AD15B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53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8F0199-5C72-47BC-BE0D-0A1B1BB205EA}"/>
              </a:ext>
            </a:extLst>
          </p:cNvPr>
          <p:cNvSpPr/>
          <p:nvPr userDrawn="1"/>
        </p:nvSpPr>
        <p:spPr bwMode="white">
          <a:xfrm>
            <a:off x="0" y="4775200"/>
            <a:ext cx="12192000" cy="2082799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6" name="slidemaster_copyright">
            <a:extLst>
              <a:ext uri="{FF2B5EF4-FFF2-40B4-BE49-F238E27FC236}">
                <a16:creationId xmlns:a16="http://schemas.microsoft.com/office/drawing/2014/main" id="{4CCF9C83-B8E0-4E6F-AEB8-C402EB49BAE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/>
                </a:solidFill>
              </a:rPr>
              <a:t>Copyright © 2025 Axestrack | Confidential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6D0280-6D68-4587-88A3-7A717007ABCA}"/>
              </a:ext>
            </a:extLst>
          </p:cNvPr>
          <p:cNvSpPr/>
          <p:nvPr userDrawn="1"/>
        </p:nvSpPr>
        <p:spPr>
          <a:xfrm>
            <a:off x="0" y="4692941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Graphic 8" descr="Truck with solid fill">
            <a:extLst>
              <a:ext uri="{FF2B5EF4-FFF2-40B4-BE49-F238E27FC236}">
                <a16:creationId xmlns:a16="http://schemas.microsoft.com/office/drawing/2014/main" id="{EDD5E4DB-ADF3-4692-BC1A-0F5F566B55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4974" y="4287734"/>
            <a:ext cx="506716" cy="506716"/>
          </a:xfrm>
          <a:prstGeom prst="rect">
            <a:avLst/>
          </a:prstGeom>
        </p:spPr>
      </p:pic>
      <p:pic>
        <p:nvPicPr>
          <p:cNvPr id="10" name="Graphic 9" descr="Truck with solid fill">
            <a:extLst>
              <a:ext uri="{FF2B5EF4-FFF2-40B4-BE49-F238E27FC236}">
                <a16:creationId xmlns:a16="http://schemas.microsoft.com/office/drawing/2014/main" id="{1B0C01BD-46C9-4A46-9A15-C8BD53A3EC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248" y="4287734"/>
            <a:ext cx="506716" cy="506716"/>
          </a:xfrm>
          <a:prstGeom prst="rect">
            <a:avLst/>
          </a:prstGeom>
        </p:spPr>
      </p:pic>
      <p:pic>
        <p:nvPicPr>
          <p:cNvPr id="11" name="Graphic 10" descr="Truck with solid fill">
            <a:extLst>
              <a:ext uri="{FF2B5EF4-FFF2-40B4-BE49-F238E27FC236}">
                <a16:creationId xmlns:a16="http://schemas.microsoft.com/office/drawing/2014/main" id="{128609F5-D962-4909-BE8C-EFC6767AA8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8258" y="4287734"/>
            <a:ext cx="506716" cy="506716"/>
          </a:xfrm>
          <a:prstGeom prst="rect">
            <a:avLst/>
          </a:prstGeom>
        </p:spPr>
      </p:pic>
      <p:pic>
        <p:nvPicPr>
          <p:cNvPr id="12" name="image4.png">
            <a:extLst>
              <a:ext uri="{FF2B5EF4-FFF2-40B4-BE49-F238E27FC236}">
                <a16:creationId xmlns:a16="http://schemas.microsoft.com/office/drawing/2014/main" id="{3B4066DD-80DB-4682-B3D5-7B208F1AF3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64995" y="1481891"/>
            <a:ext cx="7262008" cy="171400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27649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32 pt)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BB0295-4FF3-43F6-B6AE-C3DE5235AF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8640" y="1856232"/>
            <a:ext cx="11091672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tx1"/>
                </a:solidFill>
                <a:latin typeface="+mj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tx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8236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1" y="0"/>
            <a:ext cx="4148488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27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7" name="slidemaster_filename3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9" name="Custommaster_draft1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10" name="bg object 17">
            <a:extLst>
              <a:ext uri="{FF2B5EF4-FFF2-40B4-BE49-F238E27FC236}">
                <a16:creationId xmlns:a16="http://schemas.microsoft.com/office/drawing/2014/main" id="{C3479DC3-6850-493B-8073-FB0DCDC946D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EA55831-B153-4942-9E38-22FDA3028550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8376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cus/Call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6224F0-EF89-4E5D-B935-8BAD4B0ACC7F}"/>
              </a:ext>
            </a:extLst>
          </p:cNvPr>
          <p:cNvSpPr/>
          <p:nvPr userDrawn="1"/>
        </p:nvSpPr>
        <p:spPr bwMode="white">
          <a:xfrm>
            <a:off x="0" y="52388"/>
            <a:ext cx="12192000" cy="6853237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pic>
        <p:nvPicPr>
          <p:cNvPr id="3" name="bg object 17">
            <a:extLst>
              <a:ext uri="{FF2B5EF4-FFF2-40B4-BE49-F238E27FC236}">
                <a16:creationId xmlns:a16="http://schemas.microsoft.com/office/drawing/2014/main" id="{F753F7F9-DF98-4992-9D5D-A49F9339DC9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02228"/>
            <a:ext cx="661194" cy="837823"/>
          </a:xfrm>
          <a:prstGeom prst="rect">
            <a:avLst/>
          </a:prstGeom>
        </p:spPr>
      </p:pic>
      <p:sp>
        <p:nvSpPr>
          <p:cNvPr id="4" name="slidemaster_copyright">
            <a:extLst>
              <a:ext uri="{FF2B5EF4-FFF2-40B4-BE49-F238E27FC236}">
                <a16:creationId xmlns:a16="http://schemas.microsoft.com/office/drawing/2014/main" id="{80D231CE-7A14-4A52-BFC6-FA90878416D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/>
                </a:solidFill>
              </a:rPr>
              <a:t>Copyright © 2025 Axestrack | Confidential </a:t>
            </a:r>
          </a:p>
        </p:txBody>
      </p:sp>
      <p:sp>
        <p:nvSpPr>
          <p:cNvPr id="5" name="slidemaster_pagenumber">
            <a:extLst>
              <a:ext uri="{FF2B5EF4-FFF2-40B4-BE49-F238E27FC236}">
                <a16:creationId xmlns:a16="http://schemas.microsoft.com/office/drawing/2014/main" id="{9CE93F0F-5D29-4C2C-8049-01A86DF40C1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chemeClr val="bg1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87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D9D81F-4BBD-4D9F-A5FA-AEFC7D150C68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773C0-1A19-45DA-A1E1-92D6BE2495E2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2130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Click to add title (Arial 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D9D81F-4BBD-4D9F-A5FA-AEFC7D150C68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773C0-1A19-45DA-A1E1-92D6BE2495E2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5D3527-EC19-4A0F-9E24-05CE15F74FC2}"/>
              </a:ext>
            </a:extLst>
          </p:cNvPr>
          <p:cNvSpPr/>
          <p:nvPr userDrawn="1"/>
        </p:nvSpPr>
        <p:spPr bwMode="white">
          <a:xfrm>
            <a:off x="0" y="4775200"/>
            <a:ext cx="12192000" cy="2082799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0AA353-D6BB-45AD-9F0E-E8DCB85C4C3A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j-lt"/>
            </a:endParaRPr>
          </a:p>
        </p:txBody>
      </p:sp>
      <p:sp>
        <p:nvSpPr>
          <p:cNvPr id="8" name="slidemaster_copyright">
            <a:extLst>
              <a:ext uri="{FF2B5EF4-FFF2-40B4-BE49-F238E27FC236}">
                <a16:creationId xmlns:a16="http://schemas.microsoft.com/office/drawing/2014/main" id="{841B1A72-554D-4956-884D-E4D4CA7B1D8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/>
                </a:solidFill>
              </a:rPr>
              <a:t>Copyright © 2025 Axestrack | Confidential </a:t>
            </a:r>
          </a:p>
        </p:txBody>
      </p:sp>
      <p:sp>
        <p:nvSpPr>
          <p:cNvPr id="9" name="slidemaster_pagenumber">
            <a:extLst>
              <a:ext uri="{FF2B5EF4-FFF2-40B4-BE49-F238E27FC236}">
                <a16:creationId xmlns:a16="http://schemas.microsoft.com/office/drawing/2014/main" id="{E3956277-1B1F-4B94-91C7-9130B4432C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chemeClr val="bg1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31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8F0199-5C72-47BC-BE0D-0A1B1BB205EA}"/>
              </a:ext>
            </a:extLst>
          </p:cNvPr>
          <p:cNvSpPr/>
          <p:nvPr userDrawn="1"/>
        </p:nvSpPr>
        <p:spPr bwMode="white">
          <a:xfrm>
            <a:off x="0" y="1"/>
            <a:ext cx="12192000" cy="6905624"/>
          </a:xfrm>
          <a:prstGeom prst="rect">
            <a:avLst/>
          </a:prstGeom>
          <a:gradFill flip="none" rotWithShape="1">
            <a:gsLst>
              <a:gs pos="0">
                <a:schemeClr val="bg2">
                  <a:shade val="30000"/>
                  <a:satMod val="115000"/>
                </a:schemeClr>
              </a:gs>
              <a:gs pos="50000">
                <a:schemeClr val="bg2">
                  <a:shade val="67500"/>
                  <a:satMod val="115000"/>
                </a:schemeClr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0A5E1-2D5C-45D5-802C-ED41219D6DD0}"/>
              </a:ext>
            </a:extLst>
          </p:cNvPr>
          <p:cNvSpPr txBox="1"/>
          <p:nvPr userDrawn="1"/>
        </p:nvSpPr>
        <p:spPr>
          <a:xfrm>
            <a:off x="4968238" y="6198864"/>
            <a:ext cx="1914525" cy="5048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www.axestrack.com</a:t>
            </a:r>
          </a:p>
        </p:txBody>
      </p:sp>
      <p:pic>
        <p:nvPicPr>
          <p:cNvPr id="7" name="image4.png">
            <a:extLst>
              <a:ext uri="{FF2B5EF4-FFF2-40B4-BE49-F238E27FC236}">
                <a16:creationId xmlns:a16="http://schemas.microsoft.com/office/drawing/2014/main" id="{868665B0-350C-4DFA-84F7-E4A0740DE6F4}"/>
              </a:ext>
            </a:extLst>
          </p:cNvPr>
          <p:cNvPicPr/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67809" y="2808864"/>
            <a:ext cx="5456382" cy="128789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1381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Project name</a:t>
            </a:r>
            <a:br>
              <a:rPr lang="en-US" dirty="0"/>
            </a:b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(Times New Roman 36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Prepared for Client Name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Office and contact number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master_clientlogo" hidden="1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  <a:endParaRPr lang="en-US" sz="1100" b="1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6FD76-AC13-4AB3-A485-C8B366C737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0543" y="522994"/>
            <a:ext cx="4163929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8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BB0295-4FF3-43F6-B6AE-C3DE5235AF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8640" y="1856232"/>
            <a:ext cx="11091672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tx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tx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56093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pic>
        <p:nvPicPr>
          <p:cNvPr id="3" name="bg object 17">
            <a:extLst>
              <a:ext uri="{FF2B5EF4-FFF2-40B4-BE49-F238E27FC236}">
                <a16:creationId xmlns:a16="http://schemas.microsoft.com/office/drawing/2014/main" id="{0B43F69F-8FD0-4209-A841-BDB5960E572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D9D81F-4BBD-4D9F-A5FA-AEFC7D150C68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773C0-1A19-45DA-A1E1-92D6BE2495E2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28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B4A3C6-158B-4417-85DC-1F5CAE5BDB73}"/>
              </a:ext>
            </a:extLst>
          </p:cNvPr>
          <p:cNvSpPr/>
          <p:nvPr userDrawn="1"/>
        </p:nvSpPr>
        <p:spPr>
          <a:xfrm rot="5400000">
            <a:off x="7484749" y="2075775"/>
            <a:ext cx="6745751" cy="2674215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9086370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D9D81F-4BBD-4D9F-A5FA-AEFC7D150C68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773C0-1A19-45DA-A1E1-92D6BE2495E2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bg object 17">
            <a:extLst>
              <a:ext uri="{FF2B5EF4-FFF2-40B4-BE49-F238E27FC236}">
                <a16:creationId xmlns:a16="http://schemas.microsoft.com/office/drawing/2014/main" id="{259BA5D5-4FE0-4E53-9857-809D61D0635F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  <p:sp>
        <p:nvSpPr>
          <p:cNvPr id="8" name="slidemaster_pagenumber">
            <a:extLst>
              <a:ext uri="{FF2B5EF4-FFF2-40B4-BE49-F238E27FC236}">
                <a16:creationId xmlns:a16="http://schemas.microsoft.com/office/drawing/2014/main" id="{F57778B0-6072-4132-BABD-A342FC63C52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848874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chemeClr val="bg1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slidemaster_copyright">
            <a:extLst>
              <a:ext uri="{FF2B5EF4-FFF2-40B4-BE49-F238E27FC236}">
                <a16:creationId xmlns:a16="http://schemas.microsoft.com/office/drawing/2014/main" id="{BF68425D-CA43-4A52-B1A0-97D5ADCE5F5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616573" y="6550662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/>
                </a:solidFill>
              </a:rPr>
              <a:t>Copyright © 2025 Axestrack |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005360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B4A3C6-158B-4417-85DC-1F5CAE5BDB73}"/>
              </a:ext>
            </a:extLst>
          </p:cNvPr>
          <p:cNvSpPr/>
          <p:nvPr userDrawn="1"/>
        </p:nvSpPr>
        <p:spPr>
          <a:xfrm rot="5400000">
            <a:off x="7484749" y="2075775"/>
            <a:ext cx="6745751" cy="2674215"/>
          </a:xfrm>
          <a:prstGeom prst="rect">
            <a:avLst/>
          </a:prstGeo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9086370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D9D81F-4BBD-4D9F-A5FA-AEFC7D150C68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773C0-1A19-45DA-A1E1-92D6BE2495E2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bg object 17">
            <a:extLst>
              <a:ext uri="{FF2B5EF4-FFF2-40B4-BE49-F238E27FC236}">
                <a16:creationId xmlns:a16="http://schemas.microsoft.com/office/drawing/2014/main" id="{259BA5D5-4FE0-4E53-9857-809D61D0635F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  <p:sp>
        <p:nvSpPr>
          <p:cNvPr id="8" name="slidemaster_pagenumber">
            <a:extLst>
              <a:ext uri="{FF2B5EF4-FFF2-40B4-BE49-F238E27FC236}">
                <a16:creationId xmlns:a16="http://schemas.microsoft.com/office/drawing/2014/main" id="{F57778B0-6072-4132-BABD-A342FC63C52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848874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chemeClr val="bg1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slidemaster_copyright">
            <a:extLst>
              <a:ext uri="{FF2B5EF4-FFF2-40B4-BE49-F238E27FC236}">
                <a16:creationId xmlns:a16="http://schemas.microsoft.com/office/drawing/2014/main" id="{BF68425D-CA43-4A52-B1A0-97D5ADCE5F5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616573" y="6550662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/>
                </a:solidFill>
              </a:rPr>
              <a:t>Copyright © 2025 Axestrack |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122072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 </a:t>
            </a:r>
            <a:br>
              <a:rPr lang="en-US" dirty="0"/>
            </a:br>
            <a:r>
              <a:rPr lang="en-US" dirty="0"/>
              <a:t>(Times New Roman 36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 cap="flat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g object 17">
            <a:extLst>
              <a:ext uri="{FF2B5EF4-FFF2-40B4-BE49-F238E27FC236}">
                <a16:creationId xmlns:a16="http://schemas.microsoft.com/office/drawing/2014/main" id="{FD96F413-B498-4FAE-9B63-0A60BAFC1671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95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Light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section title </a:t>
            </a:r>
            <a:br>
              <a:rPr lang="en-US" dirty="0"/>
            </a:br>
            <a:r>
              <a:rPr lang="en-US" dirty="0"/>
              <a:t>(Times New Roman 36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59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tx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373368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6373368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tx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tx1"/>
                </a:solidFill>
                <a:latin typeface="+mn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bg object 17">
            <a:extLst>
              <a:ext uri="{FF2B5EF4-FFF2-40B4-BE49-F238E27FC236}">
                <a16:creationId xmlns:a16="http://schemas.microsoft.com/office/drawing/2014/main" id="{B9977B09-D2F1-4EC2-914F-B9F0616E2D0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16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tx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tx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430268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4430268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tx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tx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11896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8311896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tx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tx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9" name="bg object 17">
            <a:extLst>
              <a:ext uri="{FF2B5EF4-FFF2-40B4-BE49-F238E27FC236}">
                <a16:creationId xmlns:a16="http://schemas.microsoft.com/office/drawing/2014/main" id="{28341D20-B90C-48A8-8F37-45E397E3A64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60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tx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 16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438144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3438144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tx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 16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327648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6327648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tx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 16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217152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9217152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tx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 16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1" name="bg object 17">
            <a:extLst>
              <a:ext uri="{FF2B5EF4-FFF2-40B4-BE49-F238E27FC236}">
                <a16:creationId xmlns:a16="http://schemas.microsoft.com/office/drawing/2014/main" id="{A05F7C89-267F-44B2-950D-15F34061C00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57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tx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59786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2859786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tx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70932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5170932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tx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482078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7482078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tx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4AC7757-EC14-40BD-B915-E1A7EFBB0F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793224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F9ADBB4-EAD8-46E3-9FD8-DB157F901E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auto">
          <a:xfrm>
            <a:off x="9793224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tx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bg object 17">
            <a:extLst>
              <a:ext uri="{FF2B5EF4-FFF2-40B4-BE49-F238E27FC236}">
                <a16:creationId xmlns:a16="http://schemas.microsoft.com/office/drawing/2014/main" id="{53A7299E-67FC-451F-8E8E-882B82892D9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300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6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buClrTx/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master_filename1">
            <a:extLst>
              <a:ext uri="{FF2B5EF4-FFF2-40B4-BE49-F238E27FC236}">
                <a16:creationId xmlns:a16="http://schemas.microsoft.com/office/drawing/2014/main" id="{06D4893B-A038-4B9E-9E85-18240FDD059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5BE2E5-D465-48D9-812D-B3E2431999E2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441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master_filename2">
            <a:extLst>
              <a:ext uri="{FF2B5EF4-FFF2-40B4-BE49-F238E27FC236}">
                <a16:creationId xmlns:a16="http://schemas.microsoft.com/office/drawing/2014/main" id="{5ECBAB0E-06DC-40D5-A402-652460194265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57EC31-2BFF-4DCF-B51C-17764D8EE8EE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510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738664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</a:t>
            </a:r>
            <a:br>
              <a:rPr lang="en-US" dirty="0"/>
            </a:br>
            <a:r>
              <a:rPr lang="en-US" dirty="0"/>
              <a:t>32 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EA55C-D666-478B-B8F0-AC2B5A68DF4E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 (Arial 18 pt)</a:t>
            </a:r>
          </a:p>
        </p:txBody>
      </p:sp>
      <p:sp>
        <p:nvSpPr>
          <p:cNvPr id="10" name="slidemaster_copyright1">
            <a:extLst>
              <a:ext uri="{FF2B5EF4-FFF2-40B4-BE49-F238E27FC236}">
                <a16:creationId xmlns:a16="http://schemas.microsoft.com/office/drawing/2014/main" id="{E07AE106-793C-439E-99C1-53F2732C29B2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9917129" y="6544205"/>
            <a:ext cx="1256755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>
                <a:solidFill>
                  <a:srgbClr val="A3A1A8"/>
                </a:solidFill>
              </a:rPr>
              <a:t>© 2025 AT | Confidential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E0183D-CA00-43C2-8CC0-0AD284762CB2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A4D403D-2BBB-4A52-8BF7-8FEAAA96BD8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912B-0044-45A5-82EA-7216E1638C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tx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tx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tx1"/>
                </a:solidFill>
                <a:latin typeface="+mn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bg object 17">
            <a:extLst>
              <a:ext uri="{FF2B5EF4-FFF2-40B4-BE49-F238E27FC236}">
                <a16:creationId xmlns:a16="http://schemas.microsoft.com/office/drawing/2014/main" id="{F7AFD104-7EA1-45B3-A680-32336961C205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2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hird R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738664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</a:t>
            </a:r>
            <a:br>
              <a:rPr lang="en-US" dirty="0"/>
            </a:br>
            <a:r>
              <a:rPr lang="en-US" dirty="0"/>
              <a:t>32 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EA55C-D666-478B-B8F0-AC2B5A68DF4E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 (Arial 18 pt)</a:t>
            </a:r>
          </a:p>
        </p:txBody>
      </p:sp>
      <p:sp>
        <p:nvSpPr>
          <p:cNvPr id="10" name="slidemaster_copyright1">
            <a:extLst>
              <a:ext uri="{FF2B5EF4-FFF2-40B4-BE49-F238E27FC236}">
                <a16:creationId xmlns:a16="http://schemas.microsoft.com/office/drawing/2014/main" id="{E07AE106-793C-439E-99C1-53F2732C29B2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9917129" y="6544205"/>
            <a:ext cx="1256755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>
                <a:solidFill>
                  <a:srgbClr val="A3A1A8"/>
                </a:solidFill>
              </a:rPr>
              <a:t>© 2025 AT | Confidential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E0183D-CA00-43C2-8CC0-0AD284762CB2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A4D403D-2BBB-4A52-8BF7-8FEAAA96BD8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912B-0044-45A5-82EA-7216E1638C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tx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tx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tx1"/>
                </a:solidFill>
                <a:latin typeface="+mn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bg object 17">
            <a:extLst>
              <a:ext uri="{FF2B5EF4-FFF2-40B4-BE49-F238E27FC236}">
                <a16:creationId xmlns:a16="http://schemas.microsoft.com/office/drawing/2014/main" id="{F7AFD104-7EA1-45B3-A680-32336961C205}"/>
              </a:ext>
            </a:extLst>
          </p:cNvPr>
          <p:cNvPicPr/>
          <p:nvPr userDrawn="1"/>
        </p:nvPicPr>
        <p:blipFill>
          <a:blip r:embed="rId2" cstate="print">
            <a:biLevel thresh="25000"/>
          </a:blip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5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648DD2-80F0-4B6A-B2C3-1845D5846D6F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738664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</a:t>
            </a:r>
            <a:br>
              <a:rPr lang="en-US" dirty="0"/>
            </a:br>
            <a:r>
              <a:rPr lang="en-US" dirty="0"/>
              <a:t>32 pt)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2"/>
                </a:solidFill>
                <a:latin typeface="+mn-lt"/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 (Arial 18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slidemaster_copyright2">
            <a:extLst>
              <a:ext uri="{FF2B5EF4-FFF2-40B4-BE49-F238E27FC236}">
                <a16:creationId xmlns:a16="http://schemas.microsoft.com/office/drawing/2014/main" id="{50726B51-94B7-4DB5-B23A-BF6997C3CA5B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9917129" y="6544205"/>
            <a:ext cx="1256755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 dirty="0">
                <a:solidFill>
                  <a:srgbClr val="A3A1A8"/>
                </a:solidFill>
              </a:rPr>
              <a:t>© 2025 AT | Confidential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BC33B5-EC8A-48CE-AE62-7F7713914344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9E87E40-A7B9-4507-8366-FDB1488CF7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2F6A7-9F61-4869-87DE-CC94F3570C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tx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tx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tx1"/>
                </a:solidFill>
                <a:latin typeface="+mn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5367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7" name="slidemaster_filename3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1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10" name="bg object 17">
            <a:extLst>
              <a:ext uri="{FF2B5EF4-FFF2-40B4-BE49-F238E27FC236}">
                <a16:creationId xmlns:a16="http://schemas.microsoft.com/office/drawing/2014/main" id="{C3479DC3-6850-493B-8073-FB0DCDC946D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09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7" name="slidemaster_filename4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2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816542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0" y="1"/>
            <a:ext cx="12191997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Click icon to add picture</a:t>
            </a:r>
          </a:p>
        </p:txBody>
      </p:sp>
      <p:pic>
        <p:nvPicPr>
          <p:cNvPr id="4" name="bg object 17">
            <a:extLst>
              <a:ext uri="{FF2B5EF4-FFF2-40B4-BE49-F238E27FC236}">
                <a16:creationId xmlns:a16="http://schemas.microsoft.com/office/drawing/2014/main" id="{90D1206C-C7C4-46E7-9875-A51FF39C6B5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96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cus/Call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043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7">
            <a:extLst>
              <a:ext uri="{FF2B5EF4-FFF2-40B4-BE49-F238E27FC236}">
                <a16:creationId xmlns:a16="http://schemas.microsoft.com/office/drawing/2014/main" id="{2EEE99D7-C5D2-44B2-AD9C-B0305B8298B7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737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2252-36CC-4B94-BBA7-4A86D38D3B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369332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FB3628-AF32-41A2-AB06-20C57FAC13BA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1069848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Placeholder for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BFF7695-068E-48BB-9A42-E24791ACFA7D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4951476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Placeholder for picture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CE4EDDA-44C1-4826-AD56-05D157F452B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8833104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Placeholder for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3936E4-A8D5-43DA-AACE-A3AD8A7AA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48640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B6D5E2E-9DEF-4E60-B35C-7434225A91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430268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9E00FB-61C0-4238-A142-D59E9631E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311896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EF54358-DADD-4143-A8AD-1BDB2186DC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48640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Email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7278B55-C25A-48CC-8053-84DF48DB77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430268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A170C61-5603-4A4B-8297-EB07B549DC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311896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2397466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C74BD3F-5D46-4450-9A9D-DA1D80947B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378377"/>
            <a:ext cx="5669280" cy="228600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6" name="endmaster_draft" hidden="1">
            <a:extLst>
              <a:ext uri="{FF2B5EF4-FFF2-40B4-BE49-F238E27FC236}">
                <a16:creationId xmlns:a16="http://schemas.microsoft.com/office/drawing/2014/main" id="{81326F59-A1E6-4CE8-ABFE-7B5DCB4EA9A4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691356-D2C6-45DF-B23A-643C82F1A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0543" y="522994"/>
            <a:ext cx="4163929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938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418C-9AED-44F6-8FAE-F51096FEE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AE679-6A66-4D1C-AFAE-77C3CFBA6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7D928-455F-47DF-98EF-DD3D018BC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8ABDB-4544-4919-BDE8-8BA8D667F75B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4E30B-857E-420C-AC7B-84CB5D7F6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1E3DC-2FB5-48A8-A700-16768C3C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9104-D67F-4B95-8553-DCC225391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0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A114F-0D26-4F75-9C91-62862E7EFB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8640" y="429768"/>
            <a:ext cx="11091672" cy="3693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dirty="0"/>
              <a:t>Click to add title (Times New Roman 32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9C1B-9847-492D-9832-3F08D03F23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8640" y="1856232"/>
            <a:ext cx="11091672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slidemaster_copyright">
            <a:extLst>
              <a:ext uri="{FF2B5EF4-FFF2-40B4-BE49-F238E27FC236}">
                <a16:creationId xmlns:a16="http://schemas.microsoft.com/office/drawing/2014/main" id="{EBE4C112-DAE1-4383-B338-60D56B961C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2415" y="6544205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Copyright © 2025 Axestrack | Confidential </a:t>
            </a:r>
          </a:p>
        </p:txBody>
      </p:sp>
      <p:sp>
        <p:nvSpPr>
          <p:cNvPr id="13" name="slidemaster_pagenumber">
            <a:extLst>
              <a:ext uri="{FF2B5EF4-FFF2-40B4-BE49-F238E27FC236}">
                <a16:creationId xmlns:a16="http://schemas.microsoft.com/office/drawing/2014/main" id="{2877A940-A631-4E1B-B19B-5FF4D109B3F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14" name="slidemaster_filename">
            <a:extLst>
              <a:ext uri="{FF2B5EF4-FFF2-40B4-BE49-F238E27FC236}">
                <a16:creationId xmlns:a16="http://schemas.microsoft.com/office/drawing/2014/main" id="{F68B06B1-86C6-4EE3-836F-F05FD01AD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7" name="slidemaster_draft" hidden="1">
            <a:extLst>
              <a:ext uri="{FF2B5EF4-FFF2-40B4-BE49-F238E27FC236}">
                <a16:creationId xmlns:a16="http://schemas.microsoft.com/office/drawing/2014/main" id="{25417A80-DCE9-4A55-A666-815B9E2F92BA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  <p:pic>
        <p:nvPicPr>
          <p:cNvPr id="8" name="bg object 17">
            <a:extLst>
              <a:ext uri="{FF2B5EF4-FFF2-40B4-BE49-F238E27FC236}">
                <a16:creationId xmlns:a16="http://schemas.microsoft.com/office/drawing/2014/main" id="{6F3D0E38-08D5-41F7-95D8-01A93C44420B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1316087" y="202228"/>
            <a:ext cx="661194" cy="8378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3B9694-D0A0-4F6D-8AFE-B1F5A32E3664}"/>
              </a:ext>
            </a:extLst>
          </p:cNvPr>
          <p:cNvSpPr/>
          <p:nvPr userDrawn="1"/>
        </p:nvSpPr>
        <p:spPr>
          <a:xfrm>
            <a:off x="0" y="-23447"/>
            <a:ext cx="12192000" cy="86312"/>
          </a:xfrm>
          <a:prstGeom prst="rect">
            <a:avLst/>
          </a:prstGeom>
          <a:solidFill>
            <a:srgbClr val="EE7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B96077-A3D5-4A41-B0F9-A6E6820C7FB8}"/>
              </a:ext>
            </a:extLst>
          </p:cNvPr>
          <p:cNvSpPr/>
          <p:nvPr userDrawn="1"/>
        </p:nvSpPr>
        <p:spPr>
          <a:xfrm>
            <a:off x="-6794" y="6785756"/>
            <a:ext cx="12192000" cy="863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704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8" r:id="rId2"/>
    <p:sldLayoutId id="2147483719" r:id="rId3"/>
    <p:sldLayoutId id="2147483722" r:id="rId4"/>
    <p:sldLayoutId id="2147483724" r:id="rId5"/>
    <p:sldLayoutId id="2147483725" r:id="rId6"/>
    <p:sldLayoutId id="2147483707" r:id="rId7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bg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Wingdings 2" panose="05020102010507070707" pitchFamily="18" charset="2"/>
        <a:buChar char="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F26B43"/>
          </p15:clr>
        </p15:guide>
        <p15:guide id="2" pos="7334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A114F-0D26-4F75-9C91-62862E7EFB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8640" y="429768"/>
            <a:ext cx="11091672" cy="3693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dirty="0"/>
              <a:t>Click to add title (Times New Roman 32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9C1B-9847-492D-9832-3F08D03F23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8640" y="1856232"/>
            <a:ext cx="11091672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slidemaster_pagenumber">
            <a:extLst>
              <a:ext uri="{FF2B5EF4-FFF2-40B4-BE49-F238E27FC236}">
                <a16:creationId xmlns:a16="http://schemas.microsoft.com/office/drawing/2014/main" id="{2877A940-A631-4E1B-B19B-5FF4D109B3F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848874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14" name="slidemaster_filename">
            <a:extLst>
              <a:ext uri="{FF2B5EF4-FFF2-40B4-BE49-F238E27FC236}">
                <a16:creationId xmlns:a16="http://schemas.microsoft.com/office/drawing/2014/main" id="{F68B06B1-86C6-4EE3-836F-F05FD01AD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7" name="slidemaster_draft" hidden="1">
            <a:extLst>
              <a:ext uri="{FF2B5EF4-FFF2-40B4-BE49-F238E27FC236}">
                <a16:creationId xmlns:a16="http://schemas.microsoft.com/office/drawing/2014/main" id="{25417A80-DCE9-4A55-A666-815B9E2F92BA}"/>
              </a:ext>
            </a:extLst>
          </p:cNvPr>
          <p:cNvSpPr txBox="1"/>
          <p:nvPr userDrawn="1"/>
        </p:nvSpPr>
        <p:spPr>
          <a:xfrm>
            <a:off x="5931692" y="189999"/>
            <a:ext cx="328616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2"/>
                </a:solidFill>
              </a:rPr>
              <a:t>Draft</a:t>
            </a:r>
            <a:endParaRPr lang="en-US" sz="1100" b="1" dirty="0">
              <a:solidFill>
                <a:schemeClr val="tx2"/>
              </a:solidFill>
            </a:endParaRPr>
          </a:p>
        </p:txBody>
      </p:sp>
      <p:pic>
        <p:nvPicPr>
          <p:cNvPr id="8" name="bg object 17">
            <a:extLst>
              <a:ext uri="{FF2B5EF4-FFF2-40B4-BE49-F238E27FC236}">
                <a16:creationId xmlns:a16="http://schemas.microsoft.com/office/drawing/2014/main" id="{6F3D0E38-08D5-41F7-95D8-01A93C44420B}"/>
              </a:ext>
            </a:extLst>
          </p:cNvPr>
          <p:cNvPicPr/>
          <p:nvPr userDrawn="1"/>
        </p:nvPicPr>
        <p:blipFill>
          <a:blip r:embed="rId26" cstate="print"/>
          <a:stretch>
            <a:fillRect/>
          </a:stretch>
        </p:blipFill>
        <p:spPr>
          <a:xfrm>
            <a:off x="11316087" y="243792"/>
            <a:ext cx="661194" cy="837823"/>
          </a:xfrm>
          <a:prstGeom prst="rect">
            <a:avLst/>
          </a:prstGeom>
        </p:spPr>
      </p:pic>
      <p:sp>
        <p:nvSpPr>
          <p:cNvPr id="9" name="slidemaster_copyright">
            <a:extLst>
              <a:ext uri="{FF2B5EF4-FFF2-40B4-BE49-F238E27FC236}">
                <a16:creationId xmlns:a16="http://schemas.microsoft.com/office/drawing/2014/main" id="{D052ECD3-92A6-425D-8D12-118263F4F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616573" y="6550662"/>
            <a:ext cx="2173672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Copyright © 2025 Axestrack |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42065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bg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Wingdings 2" panose="05020102010507070707" pitchFamily="18" charset="2"/>
        <a:buChar char="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>
          <p15:clr>
            <a:srgbClr val="F26B43"/>
          </p15:clr>
        </p15:guide>
        <p15:guide id="2" pos="7334">
          <p15:clr>
            <a:srgbClr val="F26B43"/>
          </p15:clr>
        </p15:guide>
        <p15:guide id="3" orient="horz" pos="346">
          <p15:clr>
            <a:srgbClr val="F26B43"/>
          </p15:clr>
        </p15:guide>
        <p15:guide id="4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0356B8-39FA-423F-8F7E-B9A8718E9DA8}"/>
              </a:ext>
            </a:extLst>
          </p:cNvPr>
          <p:cNvSpPr txBox="1"/>
          <p:nvPr/>
        </p:nvSpPr>
        <p:spPr>
          <a:xfrm>
            <a:off x="-238125" y="4649787"/>
            <a:ext cx="914400" cy="914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DF833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6A4747-0B63-46CC-A6A5-27D59130E3B7}"/>
              </a:ext>
            </a:extLst>
          </p:cNvPr>
          <p:cNvSpPr txBox="1"/>
          <p:nvPr/>
        </p:nvSpPr>
        <p:spPr>
          <a:xfrm>
            <a:off x="914400" y="6477000"/>
            <a:ext cx="1514475" cy="2381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B3B006-91A2-4A22-B916-7408CF5DDDC9}" type="datetime4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December 1, 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CA52B0-ECEB-4BCB-93DB-E4F8479A2D53}"/>
              </a:ext>
            </a:extLst>
          </p:cNvPr>
          <p:cNvSpPr txBox="1"/>
          <p:nvPr/>
        </p:nvSpPr>
        <p:spPr>
          <a:xfrm>
            <a:off x="3709416" y="5564187"/>
            <a:ext cx="4773168" cy="2913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Case &amp; ROI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EF669-D787-4D24-B7BF-B1F5C6254220}"/>
              </a:ext>
            </a:extLst>
          </p:cNvPr>
          <p:cNvSpPr txBox="1"/>
          <p:nvPr/>
        </p:nvSpPr>
        <p:spPr>
          <a:xfrm>
            <a:off x="3215640" y="4158720"/>
            <a:ext cx="6060440" cy="2913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lIns="0" tIns="0" rIns="0" bIns="0" rtlCol="0">
            <a:noAutofit/>
          </a:bodyPr>
          <a:lstStyle/>
          <a:p>
            <a:pPr lvl="0" algn="ctr">
              <a:spcBef>
                <a:spcPts val="600"/>
              </a:spcBef>
              <a:defRPr/>
            </a:pPr>
            <a:r>
              <a:rPr lang="en-US" dirty="0"/>
              <a:t>Ashok Leyland – Alwar RSO, Yard Operations Digitization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40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4B3E5E-8710-4AE8-B639-FCA39EE2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Observations &amp; Impact on Deployment</a:t>
            </a:r>
            <a:endParaRPr lang="en-US" dirty="0">
              <a:latin typeface="+mj-lt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C8E381E-B9E5-4287-9B18-AF3C5A497CAA}"/>
              </a:ext>
            </a:extLst>
          </p:cNvPr>
          <p:cNvSpPr txBox="1"/>
          <p:nvPr/>
        </p:nvSpPr>
        <p:spPr>
          <a:xfrm>
            <a:off x="433434" y="1209180"/>
            <a:ext cx="5056751" cy="388759"/>
          </a:xfrm>
          <a:prstGeom prst="roundRect">
            <a:avLst/>
          </a:prstGeom>
          <a:solidFill>
            <a:schemeClr val="accent4"/>
          </a:solidFill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5000"/>
              </a:lnSpc>
              <a:spcAft>
                <a:spcPts val="1000"/>
              </a:spcAft>
              <a:defRPr b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r>
              <a:rPr lang="en-IN" sz="1600" dirty="0">
                <a:solidFill>
                  <a:schemeClr val="bg1"/>
                </a:solidFill>
              </a:rPr>
              <a:t>Observations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8AEAB76-0EF3-4D26-A2DA-7FFE3BF53D49}"/>
              </a:ext>
            </a:extLst>
          </p:cNvPr>
          <p:cNvSpPr txBox="1"/>
          <p:nvPr/>
        </p:nvSpPr>
        <p:spPr>
          <a:xfrm>
            <a:off x="6341533" y="1209180"/>
            <a:ext cx="4809694" cy="38875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5000"/>
              </a:lnSpc>
              <a:spcAft>
                <a:spcPts val="1000"/>
              </a:spcAft>
              <a:defRPr b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Business Outcomes with CPL Implementation</a:t>
            </a: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83BC2BCF-2396-449C-966A-C2168192E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727506"/>
              </p:ext>
            </p:extLst>
          </p:nvPr>
        </p:nvGraphicFramePr>
        <p:xfrm>
          <a:off x="433434" y="1617315"/>
          <a:ext cx="10818500" cy="47161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9250">
                  <a:extLst>
                    <a:ext uri="{9D8B030D-6E8A-4147-A177-3AD203B41FA5}">
                      <a16:colId xmlns:a16="http://schemas.microsoft.com/office/drawing/2014/main" val="1633946587"/>
                    </a:ext>
                  </a:extLst>
                </a:gridCol>
                <a:gridCol w="5409250">
                  <a:extLst>
                    <a:ext uri="{9D8B030D-6E8A-4147-A177-3AD203B41FA5}">
                      <a16:colId xmlns:a16="http://schemas.microsoft.com/office/drawing/2014/main" val="3867652744"/>
                    </a:ext>
                  </a:extLst>
                </a:gridCol>
              </a:tblGrid>
              <a:tr h="804420">
                <a:tc>
                  <a:txBody>
                    <a:bodyPr/>
                    <a:lstStyle/>
                    <a:p>
                      <a:r>
                        <a:rPr lang="en-US" sz="1400" dirty="0"/>
                        <a:t>No slot-level visibility → only line-level parking recorded</a:t>
                      </a:r>
                    </a:p>
                  </a:txBody>
                  <a:tcPr marL="72000" marR="324000" anchor="ctr"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VIN-level traceability across Yard 1, Yard 2 &amp; Bus Yard</a:t>
                      </a:r>
                    </a:p>
                    <a:p>
                      <a:r>
                        <a:rPr lang="en-US" sz="1400" dirty="0"/>
                        <a:t>Exact slot-level visibility via GPS/Geo-grid mapping</a:t>
                      </a:r>
                    </a:p>
                  </a:txBody>
                  <a:tcPr marL="648000" marR="144000" anchor="ctr"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976347"/>
                  </a:ext>
                </a:extLst>
              </a:tr>
              <a:tr h="575712">
                <a:tc>
                  <a:txBody>
                    <a:bodyPr/>
                    <a:lstStyle/>
                    <a:p>
                      <a:r>
                        <a:rPr lang="en-US" sz="1400" dirty="0"/>
                        <a:t>Retrieval dependent on driver memory across 4,000+ vehicles</a:t>
                      </a:r>
                    </a:p>
                  </a:txBody>
                  <a:tcPr marL="72000" marR="32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Navigation-based retrieval reduces driver dependency</a:t>
                      </a:r>
                    </a:p>
                  </a:txBody>
                  <a:tcPr marL="648000" marR="14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140984"/>
                  </a:ext>
                </a:extLst>
              </a:tr>
              <a:tr h="804420">
                <a:tc>
                  <a:txBody>
                    <a:bodyPr/>
                    <a:lstStyle/>
                    <a:p>
                      <a:r>
                        <a:rPr lang="en-US" sz="1400" dirty="0"/>
                        <a:t>Re-parking, rework &amp; vendor movements are not digitally tracked</a:t>
                      </a:r>
                    </a:p>
                  </a:txBody>
                  <a:tcPr marL="72000" marR="32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Digitalized re-parking &amp; rework loop → complete movement history</a:t>
                      </a:r>
                    </a:p>
                  </a:txBody>
                  <a:tcPr marL="648000" marR="14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096563"/>
                  </a:ext>
                </a:extLst>
              </a:tr>
              <a:tr h="575712">
                <a:tc>
                  <a:txBody>
                    <a:bodyPr/>
                    <a:lstStyle/>
                    <a:p>
                      <a:r>
                        <a:rPr lang="en-US" sz="1400" dirty="0"/>
                        <a:t>No FIFO visibility → difficult VIN retrieval during dispatch</a:t>
                      </a:r>
                    </a:p>
                  </a:txBody>
                  <a:tcPr marL="72000" marR="32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FIFO automation ensures correct vehicle pull-out</a:t>
                      </a:r>
                    </a:p>
                  </a:txBody>
                  <a:tcPr marL="648000" marR="14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933330"/>
                  </a:ext>
                </a:extLst>
              </a:tr>
              <a:tr h="575712">
                <a:tc>
                  <a:txBody>
                    <a:bodyPr/>
                    <a:lstStyle/>
                    <a:p>
                      <a:r>
                        <a:rPr lang="en-US" sz="1400" dirty="0"/>
                        <a:t>No real-time yard capacity view (free/occupied slots)</a:t>
                      </a:r>
                    </a:p>
                  </a:txBody>
                  <a:tcPr marL="72000" marR="32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Real-time yard capacity &amp; utilization dashboard</a:t>
                      </a:r>
                    </a:p>
                  </a:txBody>
                  <a:tcPr marL="648000" marR="14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22521"/>
                  </a:ext>
                </a:extLst>
              </a:tr>
              <a:tr h="804420">
                <a:tc>
                  <a:txBody>
                    <a:bodyPr/>
                    <a:lstStyle/>
                    <a:p>
                      <a:r>
                        <a:rPr lang="en-US" sz="1400" dirty="0"/>
                        <a:t>Bus movement loop (Production → RSO Yard → Bodywork Vendor → Bus Yard) has zero digital traceability</a:t>
                      </a:r>
                    </a:p>
                  </a:txBody>
                  <a:tcPr marL="72000" marR="32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Seamless tracking for Production → Vendor → Bus Yard trip</a:t>
                      </a:r>
                    </a:p>
                  </a:txBody>
                  <a:tcPr marL="648000" marR="14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128923"/>
                  </a:ext>
                </a:extLst>
              </a:tr>
              <a:tr h="575712">
                <a:tc>
                  <a:txBody>
                    <a:bodyPr/>
                    <a:lstStyle/>
                    <a:p>
                      <a:r>
                        <a:rPr lang="en-US" sz="1400" dirty="0"/>
                        <a:t>High retrieval time, congestion &amp; unproductive </a:t>
                      </a:r>
                      <a:r>
                        <a:rPr lang="en-US" sz="1400" dirty="0" err="1"/>
                        <a:t>labour</a:t>
                      </a:r>
                      <a:r>
                        <a:rPr lang="en-US" sz="1400" dirty="0"/>
                        <a:t> effort</a:t>
                      </a:r>
                    </a:p>
                  </a:txBody>
                  <a:tcPr marL="72000" marR="32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Driver &amp; Jockey productivity analytics for manpower efficiency</a:t>
                      </a:r>
                    </a:p>
                  </a:txBody>
                  <a:tcPr marL="648000" marR="14400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46283"/>
                  </a:ext>
                </a:extLst>
              </a:tr>
            </a:tbl>
          </a:graphicData>
        </a:graphic>
      </p:graphicFrame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0ED301A-1AC6-4171-8685-84442A67091A}"/>
              </a:ext>
            </a:extLst>
          </p:cNvPr>
          <p:cNvSpPr/>
          <p:nvPr/>
        </p:nvSpPr>
        <p:spPr>
          <a:xfrm rot="5400000">
            <a:off x="5602584" y="1905433"/>
            <a:ext cx="275025" cy="205172"/>
          </a:xfrm>
          <a:prstGeom prst="triangl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0D36CAB-BBFF-4CE4-BB53-6295EA1D9D4F}"/>
              </a:ext>
            </a:extLst>
          </p:cNvPr>
          <p:cNvSpPr/>
          <p:nvPr/>
        </p:nvSpPr>
        <p:spPr>
          <a:xfrm rot="5400000">
            <a:off x="5602584" y="2652947"/>
            <a:ext cx="275025" cy="205172"/>
          </a:xfrm>
          <a:prstGeom prst="triangl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20FEC0E7-F7D2-4087-8855-31FF75E24964}"/>
              </a:ext>
            </a:extLst>
          </p:cNvPr>
          <p:cNvSpPr/>
          <p:nvPr/>
        </p:nvSpPr>
        <p:spPr>
          <a:xfrm rot="5400000">
            <a:off x="5602584" y="3262948"/>
            <a:ext cx="275025" cy="205172"/>
          </a:xfrm>
          <a:prstGeom prst="triangl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E622C06D-F3F1-4134-B593-A504EF11964C}"/>
              </a:ext>
            </a:extLst>
          </p:cNvPr>
          <p:cNvSpPr/>
          <p:nvPr/>
        </p:nvSpPr>
        <p:spPr>
          <a:xfrm rot="5400000">
            <a:off x="5602584" y="4006909"/>
            <a:ext cx="275025" cy="205172"/>
          </a:xfrm>
          <a:prstGeom prst="triangl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1128BFC-3C6E-4A31-9511-1632E48AC9A1}"/>
              </a:ext>
            </a:extLst>
          </p:cNvPr>
          <p:cNvSpPr/>
          <p:nvPr/>
        </p:nvSpPr>
        <p:spPr>
          <a:xfrm rot="5400000">
            <a:off x="5602584" y="4510649"/>
            <a:ext cx="275025" cy="205172"/>
          </a:xfrm>
          <a:prstGeom prst="triangl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73741512-B874-46A2-A16A-EC1E023757FF}"/>
              </a:ext>
            </a:extLst>
          </p:cNvPr>
          <p:cNvSpPr/>
          <p:nvPr/>
        </p:nvSpPr>
        <p:spPr>
          <a:xfrm rot="5400000">
            <a:off x="5602584" y="5218843"/>
            <a:ext cx="275025" cy="205172"/>
          </a:xfrm>
          <a:prstGeom prst="triangl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8639FFD0-E64D-456B-8F15-4389CB5BD9B3}"/>
              </a:ext>
            </a:extLst>
          </p:cNvPr>
          <p:cNvSpPr/>
          <p:nvPr/>
        </p:nvSpPr>
        <p:spPr>
          <a:xfrm rot="5400000">
            <a:off x="5602584" y="5927037"/>
            <a:ext cx="275025" cy="205172"/>
          </a:xfrm>
          <a:prstGeom prst="triangle">
            <a:avLst/>
          </a:prstGeom>
          <a:solidFill>
            <a:schemeClr val="accent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</p:spTree>
    <p:extLst>
      <p:ext uri="{BB962C8B-B14F-4D97-AF65-F5344CB8AC3E}">
        <p14:creationId xmlns:p14="http://schemas.microsoft.com/office/powerpoint/2010/main" val="576989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D1C5839-FE68-43F2-BB68-40257242B675}"/>
              </a:ext>
            </a:extLst>
          </p:cNvPr>
          <p:cNvSpPr txBox="1"/>
          <p:nvPr/>
        </p:nvSpPr>
        <p:spPr>
          <a:xfrm>
            <a:off x="682307" y="1102196"/>
            <a:ext cx="2186873" cy="38875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5000"/>
              </a:lnSpc>
              <a:spcAft>
                <a:spcPts val="1000"/>
              </a:spcAft>
              <a:defRPr b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107150-5C88-4E45-BA70-FEDE23B5FBE1}"/>
              </a:ext>
            </a:extLst>
          </p:cNvPr>
          <p:cNvSpPr txBox="1"/>
          <p:nvPr/>
        </p:nvSpPr>
        <p:spPr>
          <a:xfrm>
            <a:off x="3081969" y="1102196"/>
            <a:ext cx="2647143" cy="388759"/>
          </a:xfrm>
          <a:prstGeom prst="roundRect">
            <a:avLst/>
          </a:prstGeom>
          <a:solidFill>
            <a:schemeClr val="accent1"/>
          </a:solidFill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5000"/>
              </a:lnSpc>
              <a:spcAft>
                <a:spcPts val="1000"/>
              </a:spcAft>
              <a:defRPr b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2C11D1-A8A8-4E49-99E1-7051BED74324}"/>
              </a:ext>
            </a:extLst>
          </p:cNvPr>
          <p:cNvSpPr txBox="1"/>
          <p:nvPr/>
        </p:nvSpPr>
        <p:spPr>
          <a:xfrm>
            <a:off x="5949949" y="1102196"/>
            <a:ext cx="2439107" cy="388759"/>
          </a:xfrm>
          <a:prstGeom prst="roundRect">
            <a:avLst/>
          </a:prstGeom>
          <a:solidFill>
            <a:schemeClr val="accent4"/>
          </a:solidFill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5000"/>
              </a:lnSpc>
              <a:spcAft>
                <a:spcPts val="1000"/>
              </a:spcAft>
              <a:defRPr b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67AF55-D780-46BA-900D-F04E9E90B158}"/>
              </a:ext>
            </a:extLst>
          </p:cNvPr>
          <p:cNvSpPr txBox="1"/>
          <p:nvPr/>
        </p:nvSpPr>
        <p:spPr>
          <a:xfrm>
            <a:off x="8665345" y="1102196"/>
            <a:ext cx="2981739" cy="38875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15000"/>
              </a:lnSpc>
              <a:spcAft>
                <a:spcPts val="1000"/>
              </a:spcAft>
              <a:defRPr b="1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defRPr>
            </a:lvl1pPr>
          </a:lstStyle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96D8A-C067-4E40-8AFA-9DBEE4F6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 Snapshot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F97A89-18BE-438A-BBEA-19D627C20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80768"/>
              </p:ext>
            </p:extLst>
          </p:nvPr>
        </p:nvGraphicFramePr>
        <p:xfrm>
          <a:off x="555415" y="1097349"/>
          <a:ext cx="11091669" cy="53308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791">
                  <a:extLst>
                    <a:ext uri="{9D8B030D-6E8A-4147-A177-3AD203B41FA5}">
                      <a16:colId xmlns:a16="http://schemas.microsoft.com/office/drawing/2014/main" val="2939990082"/>
                    </a:ext>
                  </a:extLst>
                </a:gridCol>
                <a:gridCol w="2887579">
                  <a:extLst>
                    <a:ext uri="{9D8B030D-6E8A-4147-A177-3AD203B41FA5}">
                      <a16:colId xmlns:a16="http://schemas.microsoft.com/office/drawing/2014/main" val="3760399157"/>
                    </a:ext>
                  </a:extLst>
                </a:gridCol>
                <a:gridCol w="2569177">
                  <a:extLst>
                    <a:ext uri="{9D8B030D-6E8A-4147-A177-3AD203B41FA5}">
                      <a16:colId xmlns:a16="http://schemas.microsoft.com/office/drawing/2014/main" val="1613323615"/>
                    </a:ext>
                  </a:extLst>
                </a:gridCol>
                <a:gridCol w="241400">
                  <a:extLst>
                    <a:ext uri="{9D8B030D-6E8A-4147-A177-3AD203B41FA5}">
                      <a16:colId xmlns:a16="http://schemas.microsoft.com/office/drawing/2014/main" val="1113441243"/>
                    </a:ext>
                  </a:extLst>
                </a:gridCol>
                <a:gridCol w="2974722">
                  <a:extLst>
                    <a:ext uri="{9D8B030D-6E8A-4147-A177-3AD203B41FA5}">
                      <a16:colId xmlns:a16="http://schemas.microsoft.com/office/drawing/2014/main" val="147164276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KPIs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Before (Current State)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After CPL Deployment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Impact (Measurable)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148737"/>
                  </a:ext>
                </a:extLst>
              </a:tr>
              <a:tr h="7798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Retrieval Time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30–45 min per vehicle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5–10 min with slot-level navigation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45–60% time reduction 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 dirty="0">
                          <a:effectLst/>
                        </a:rPr>
                        <a:t>20–30 </a:t>
                      </a:r>
                      <a:r>
                        <a:rPr lang="en-US" sz="1400" u="none" strike="noStrike" dirty="0" err="1">
                          <a:effectLst/>
                        </a:rPr>
                        <a:t>labour</a:t>
                      </a:r>
                      <a:r>
                        <a:rPr lang="en-US" sz="1400" u="none" strike="noStrike" dirty="0">
                          <a:effectLst/>
                        </a:rPr>
                        <a:t> hours saved/day 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 dirty="0">
                          <a:effectLst/>
                        </a:rPr>
                        <a:t>₹3–4.5 lakh/month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52957"/>
                  </a:ext>
                </a:extLst>
              </a:tr>
              <a:tr h="7798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Yard Visibility &amp; Utilization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No slot visibility; only line-level parking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Real-time slot-level map + capacity dashboard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15–20% better utilization 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 dirty="0">
                          <a:effectLst/>
                        </a:rPr>
                        <a:t>avoids overflow &amp; re-parking 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 dirty="0">
                          <a:effectLst/>
                        </a:rPr>
                        <a:t>₹1.5–2 lakh/month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739716"/>
                  </a:ext>
                </a:extLst>
              </a:tr>
              <a:tr h="5224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Wrong Parking / Duplicate Movements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Frequent misplacements; re-parking not tracked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Digital movement history: park → re-park → rework → dispatch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n-US" sz="14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Avoids avoidable movements 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saves ₹0.5–1 lakh/month</a:t>
                      </a:r>
                      <a:endParaRPr lang="en-US" sz="14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840532"/>
                  </a:ext>
                </a:extLst>
              </a:tr>
              <a:tr h="5224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FIFO Dispatch Efficiency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VIN search based on manual memory; high delay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Auto-FIFO pullout + digital VIN trace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15–25% faster dispatch 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400" u="none" strike="noStrike" dirty="0">
                          <a:effectLst/>
                        </a:rPr>
                        <a:t>₹2–3 lakh/month cash-flow benefit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284981"/>
                  </a:ext>
                </a:extLst>
              </a:tr>
              <a:tr h="5224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Driver/Jockey Dependency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Retrieval based on human memory &amp; manual coordination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Navigation-based retrieval + productivity dashboard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Higher manpower efficiency</a:t>
                      </a:r>
                      <a:r>
                        <a:rPr lang="en-US" sz="1400" u="none" strike="noStrike" dirty="0">
                          <a:effectLst/>
                        </a:rPr>
                        <a:t>; fewer errors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5577"/>
                  </a:ext>
                </a:extLst>
              </a:tr>
              <a:tr h="10372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Bus Movement Tracking (Production → Vendor → Bus Yard)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No digital traceability; difficult to monitor movement loop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End-to-end movement history &amp; alerts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Improved control </a:t>
                      </a:r>
                      <a:r>
                        <a:rPr lang="en-US" sz="1400" u="none" strike="noStrike" dirty="0">
                          <a:effectLst/>
                        </a:rPr>
                        <a:t>&amp; fewer lost/missing units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722257"/>
                  </a:ext>
                </a:extLst>
              </a:tr>
              <a:tr h="5224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Yard Congestion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Blind movement → crowding &amp; rework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Guided routing + planned retrieval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Lower congestion</a:t>
                      </a:r>
                      <a:r>
                        <a:rPr lang="en-US" sz="1400" u="none" strike="noStrike" dirty="0">
                          <a:effectLst/>
                        </a:rPr>
                        <a:t>; smoother dispatch flow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44000" marR="7200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8027"/>
                  </a:ext>
                </a:extLst>
              </a:tr>
            </a:tbl>
          </a:graphicData>
        </a:graphic>
      </p:graphicFrame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C5D6F79F-CBBD-4425-A1C7-6D8B5EBFCEA4}"/>
              </a:ext>
            </a:extLst>
          </p:cNvPr>
          <p:cNvSpPr/>
          <p:nvPr/>
        </p:nvSpPr>
        <p:spPr>
          <a:xfrm rot="5400000">
            <a:off x="8436249" y="1798255"/>
            <a:ext cx="275025" cy="20517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0CF96B7-3137-4A76-AF30-E2B050A99AF5}"/>
              </a:ext>
            </a:extLst>
          </p:cNvPr>
          <p:cNvSpPr/>
          <p:nvPr/>
        </p:nvSpPr>
        <p:spPr>
          <a:xfrm rot="5400000">
            <a:off x="8436249" y="2534856"/>
            <a:ext cx="275025" cy="20517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7BC3EAA-036A-4234-91D1-B22CE8BC280E}"/>
              </a:ext>
            </a:extLst>
          </p:cNvPr>
          <p:cNvSpPr/>
          <p:nvPr/>
        </p:nvSpPr>
        <p:spPr>
          <a:xfrm rot="5400000">
            <a:off x="8436249" y="3273649"/>
            <a:ext cx="275025" cy="20517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73C7404-22CF-436A-918D-E61E8AA571DD}"/>
              </a:ext>
            </a:extLst>
          </p:cNvPr>
          <p:cNvSpPr/>
          <p:nvPr/>
        </p:nvSpPr>
        <p:spPr>
          <a:xfrm rot="5400000">
            <a:off x="8436249" y="3926929"/>
            <a:ext cx="275025" cy="20517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DEC760-3192-4FB2-976A-BF5C8B2EFF7B}"/>
              </a:ext>
            </a:extLst>
          </p:cNvPr>
          <p:cNvSpPr/>
          <p:nvPr/>
        </p:nvSpPr>
        <p:spPr>
          <a:xfrm rot="5400000">
            <a:off x="8436249" y="4541764"/>
            <a:ext cx="275025" cy="20517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1C1289B-8EB7-409A-9100-E731D3E24775}"/>
              </a:ext>
            </a:extLst>
          </p:cNvPr>
          <p:cNvSpPr/>
          <p:nvPr/>
        </p:nvSpPr>
        <p:spPr>
          <a:xfrm rot="5400000">
            <a:off x="8436249" y="5264810"/>
            <a:ext cx="275025" cy="20517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C4F78D9-85C9-4D59-A20F-5C3C33F06A06}"/>
              </a:ext>
            </a:extLst>
          </p:cNvPr>
          <p:cNvSpPr/>
          <p:nvPr/>
        </p:nvSpPr>
        <p:spPr>
          <a:xfrm rot="5400000">
            <a:off x="8436249" y="6014902"/>
            <a:ext cx="275025" cy="20517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en-US" sz="1800" dirty="0" err="1"/>
          </a:p>
        </p:txBody>
      </p:sp>
    </p:spTree>
    <p:extLst>
      <p:ext uri="{BB962C8B-B14F-4D97-AF65-F5344CB8AC3E}">
        <p14:creationId xmlns:p14="http://schemas.microsoft.com/office/powerpoint/2010/main" val="372479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07629D2-B47D-4771-9C3C-89391A51CC23}"/>
              </a:ext>
            </a:extLst>
          </p:cNvPr>
          <p:cNvGrpSpPr/>
          <p:nvPr/>
        </p:nvGrpSpPr>
        <p:grpSpPr>
          <a:xfrm>
            <a:off x="548639" y="1478143"/>
            <a:ext cx="9221893" cy="388760"/>
            <a:chOff x="548639" y="1688349"/>
            <a:chExt cx="10830561" cy="3887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6C8B70-30EA-4C79-978D-C1D60FD2634E}"/>
                </a:ext>
              </a:extLst>
            </p:cNvPr>
            <p:cNvSpPr txBox="1"/>
            <p:nvPr/>
          </p:nvSpPr>
          <p:spPr>
            <a:xfrm>
              <a:off x="548639" y="1688350"/>
              <a:ext cx="3252893" cy="38875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115000"/>
                </a:lnSpc>
                <a:spcAft>
                  <a:spcPts val="1000"/>
                </a:spcAft>
                <a:defRPr b="1">
                  <a:effectLst/>
                  <a:latin typeface="Arial" panose="020B0604020202020204" pitchFamily="34" charset="0"/>
                  <a:ea typeface="MS Mincho" panose="02020609040205080304" pitchFamily="49" charset="-128"/>
                  <a:cs typeface="Times New Roman" panose="02020603050405020304" pitchFamily="18" charset="0"/>
                </a:defRPr>
              </a:lvl1pPr>
            </a:lstStyle>
            <a:p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496D1B-BAA6-416C-B5FB-41F7E6F9F7DA}"/>
                </a:ext>
              </a:extLst>
            </p:cNvPr>
            <p:cNvSpPr txBox="1"/>
            <p:nvPr/>
          </p:nvSpPr>
          <p:spPr>
            <a:xfrm>
              <a:off x="4021667" y="1688350"/>
              <a:ext cx="3141133" cy="38875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115000"/>
                </a:lnSpc>
                <a:spcAft>
                  <a:spcPts val="1000"/>
                </a:spcAft>
                <a:defRPr b="1">
                  <a:effectLst/>
                  <a:latin typeface="Arial" panose="020B0604020202020204" pitchFamily="34" charset="0"/>
                  <a:ea typeface="MS Mincho" panose="02020609040205080304" pitchFamily="49" charset="-128"/>
                  <a:cs typeface="Times New Roman" panose="02020603050405020304" pitchFamily="18" charset="0"/>
                </a:defRPr>
              </a:lvl1pPr>
            </a:lstStyle>
            <a:p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4DB99B-F681-4EAB-B0E1-577A24D9D60C}"/>
                </a:ext>
              </a:extLst>
            </p:cNvPr>
            <p:cNvSpPr txBox="1"/>
            <p:nvPr/>
          </p:nvSpPr>
          <p:spPr>
            <a:xfrm>
              <a:off x="7518400" y="1688349"/>
              <a:ext cx="3860800" cy="38875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  <a:miter lim="800000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115000"/>
                </a:lnSpc>
                <a:spcAft>
                  <a:spcPts val="1000"/>
                </a:spcAft>
                <a:defRPr b="1">
                  <a:effectLst/>
                  <a:latin typeface="Arial" panose="020B0604020202020204" pitchFamily="34" charset="0"/>
                  <a:ea typeface="MS Mincho" panose="02020609040205080304" pitchFamily="49" charset="-128"/>
                  <a:cs typeface="Times New Roman" panose="02020603050405020304" pitchFamily="18" charset="0"/>
                </a:defRPr>
              </a:lvl1pPr>
            </a:lstStyle>
            <a:p>
              <a:endParaRPr 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20888F-4F4C-4F7F-8055-6D706C10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ROI Impact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7F16E-C68A-4534-BA7F-B3DD37906DAC}"/>
              </a:ext>
            </a:extLst>
          </p:cNvPr>
          <p:cNvSpPr txBox="1"/>
          <p:nvPr/>
        </p:nvSpPr>
        <p:spPr>
          <a:xfrm>
            <a:off x="548639" y="919805"/>
            <a:ext cx="5631757" cy="374571"/>
          </a:xfrm>
          <a:prstGeom prst="roundRect">
            <a:avLst/>
          </a:prstGeom>
          <a:solidFill>
            <a:schemeClr val="accent4"/>
          </a:solidFill>
          <a:ln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Consolidated Financial Impact (Per Month)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565470-F28C-49ED-AD7F-D5E331E86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094684"/>
              </p:ext>
            </p:extLst>
          </p:nvPr>
        </p:nvGraphicFramePr>
        <p:xfrm>
          <a:off x="548640" y="1342677"/>
          <a:ext cx="9306561" cy="2820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061">
                  <a:extLst>
                    <a:ext uri="{9D8B030D-6E8A-4147-A177-3AD203B41FA5}">
                      <a16:colId xmlns:a16="http://schemas.microsoft.com/office/drawing/2014/main" val="481441082"/>
                    </a:ext>
                  </a:extLst>
                </a:gridCol>
                <a:gridCol w="2845418">
                  <a:extLst>
                    <a:ext uri="{9D8B030D-6E8A-4147-A177-3AD203B41FA5}">
                      <a16:colId xmlns:a16="http://schemas.microsoft.com/office/drawing/2014/main" val="1214979835"/>
                    </a:ext>
                  </a:extLst>
                </a:gridCol>
                <a:gridCol w="3627082">
                  <a:extLst>
                    <a:ext uri="{9D8B030D-6E8A-4147-A177-3AD203B41FA5}">
                      <a16:colId xmlns:a16="http://schemas.microsoft.com/office/drawing/2014/main" val="1846934614"/>
                    </a:ext>
                  </a:extLst>
                </a:gridCol>
              </a:tblGrid>
              <a:tr h="6472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ROI Component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Monthly Impact (₹)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Impact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58745"/>
                  </a:ext>
                </a:extLst>
              </a:tr>
              <a:tr h="3291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Retrieval Time Savings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3 – 4.5 lakh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20–30 </a:t>
                      </a:r>
                      <a:r>
                        <a:rPr lang="en-US" sz="1400" u="none" strike="noStrike" dirty="0" err="1">
                          <a:effectLst/>
                        </a:rPr>
                        <a:t>labour</a:t>
                      </a:r>
                      <a:r>
                        <a:rPr lang="en-US" sz="1400" u="none" strike="noStrike" dirty="0">
                          <a:effectLst/>
                        </a:rPr>
                        <a:t> hours saved/day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491095"/>
                  </a:ext>
                </a:extLst>
              </a:tr>
              <a:tr h="3291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Improved Yard Utilization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1.5 – 2 lakh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15–20% better slot usage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454893"/>
                  </a:ext>
                </a:extLst>
              </a:tr>
              <a:tr h="3291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Reduced Misplacements &amp; Movements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0.5 – 1 lakh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Eliminates wrong parking &amp; rework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760818"/>
                  </a:ext>
                </a:extLst>
              </a:tr>
              <a:tr h="3291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Faster Dispatch → Faster Billing Cycle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2 – 3 lakh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15–25% faster dispatch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939845"/>
                  </a:ext>
                </a:extLst>
              </a:tr>
              <a:tr h="6488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Operational Efficiency (Driver/Jockey, Supervisors)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~0.5 – 0.75 lakh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Reduced coordination + faster cycle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6575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8C8F16-8AF7-4835-B563-3C917B5761D1}"/>
              </a:ext>
            </a:extLst>
          </p:cNvPr>
          <p:cNvSpPr txBox="1"/>
          <p:nvPr/>
        </p:nvSpPr>
        <p:spPr>
          <a:xfrm>
            <a:off x="1321348" y="4163196"/>
            <a:ext cx="7043515" cy="41620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Total Monthly ROI Potential : ₹8.5 lakh – ₹10 lakh / month</a:t>
            </a:r>
            <a:endParaRPr lang="en-US" sz="2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6B8CD89D-7762-4A7E-97F0-EEFB7A4AA7D4}"/>
              </a:ext>
            </a:extLst>
          </p:cNvPr>
          <p:cNvSpPr/>
          <p:nvPr/>
        </p:nvSpPr>
        <p:spPr>
          <a:xfrm>
            <a:off x="9855201" y="1539651"/>
            <a:ext cx="731785" cy="2623545"/>
          </a:xfrm>
          <a:prstGeom prst="rightBrace">
            <a:avLst/>
          </a:prstGeom>
          <a:ln w="9525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1B004A-376B-49D8-BAB6-CDCE2B7DFA82}"/>
              </a:ext>
            </a:extLst>
          </p:cNvPr>
          <p:cNvSpPr txBox="1"/>
          <p:nvPr/>
        </p:nvSpPr>
        <p:spPr>
          <a:xfrm>
            <a:off x="10586986" y="2510908"/>
            <a:ext cx="1425342" cy="707886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2.7× to 5× ROI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D4FEB-F538-4C65-AC8C-9207344D7B12}"/>
              </a:ext>
            </a:extLst>
          </p:cNvPr>
          <p:cNvSpPr txBox="1"/>
          <p:nvPr/>
        </p:nvSpPr>
        <p:spPr>
          <a:xfrm>
            <a:off x="548638" y="4706100"/>
            <a:ext cx="5631757" cy="374571"/>
          </a:xfrm>
          <a:prstGeom prst="roundRect">
            <a:avLst/>
          </a:prstGeom>
          <a:solidFill>
            <a:schemeClr val="accent4"/>
          </a:solidFill>
          <a:ln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Strategic Outcomes for Ashok Leyland – Alwar RSO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D60435-134B-434E-AE50-C737B489B98A}"/>
              </a:ext>
            </a:extLst>
          </p:cNvPr>
          <p:cNvSpPr txBox="1"/>
          <p:nvPr/>
        </p:nvSpPr>
        <p:spPr>
          <a:xfrm>
            <a:off x="508778" y="5122304"/>
            <a:ext cx="10790879" cy="138499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Full </a:t>
            </a:r>
            <a:r>
              <a:rPr lang="en-US" sz="1400" b="1" dirty="0"/>
              <a:t>VIN-level traceability</a:t>
            </a:r>
            <a:r>
              <a:rPr lang="en-US" sz="1400" dirty="0"/>
              <a:t> across Yard 1, Yard 2, and Bus Yard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Faster dispatch cycles</a:t>
            </a:r>
            <a:r>
              <a:rPr lang="en-US" sz="1400" dirty="0"/>
              <a:t>, lower congestion, smoother load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Predictable &amp; transparent yard operations</a:t>
            </a:r>
            <a:r>
              <a:rPr lang="en-US" sz="1400" dirty="0"/>
              <a:t> for 4,200+ vehicles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Better </a:t>
            </a:r>
            <a:r>
              <a:rPr lang="en-US" sz="1400" b="1" dirty="0" err="1"/>
              <a:t>utilisation</a:t>
            </a:r>
            <a:r>
              <a:rPr lang="en-US" sz="1400" dirty="0"/>
              <a:t> → reduced overflow &amp; unnecessary movements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Digitised</a:t>
            </a:r>
            <a:r>
              <a:rPr lang="en-US" sz="1400" b="1" dirty="0"/>
              <a:t> movement loop</a:t>
            </a:r>
            <a:r>
              <a:rPr lang="en-US" sz="1400" dirty="0"/>
              <a:t> for Production → Vendor → Bus Yard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High adoption</a:t>
            </a:r>
            <a:r>
              <a:rPr lang="en-US" sz="1400" dirty="0"/>
              <a:t> with driver navigation &amp; guided retrieval</a:t>
            </a:r>
          </a:p>
        </p:txBody>
      </p:sp>
    </p:spTree>
    <p:extLst>
      <p:ext uri="{BB962C8B-B14F-4D97-AF65-F5344CB8AC3E}">
        <p14:creationId xmlns:p14="http://schemas.microsoft.com/office/powerpoint/2010/main" val="2864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049955"/>
      </p:ext>
    </p:extLst>
  </p:cSld>
  <p:clrMapOvr>
    <a:masterClrMapping/>
  </p:clrMapOvr>
</p:sld>
</file>

<file path=ppt/theme/theme1.xml><?xml version="1.0" encoding="utf-8"?>
<a:theme xmlns:a="http://schemas.openxmlformats.org/drawingml/2006/main" name="2_ZS PPT 16x9">
  <a:themeElements>
    <a:clrScheme name="Custom 1">
      <a:dk1>
        <a:srgbClr val="000000"/>
      </a:dk1>
      <a:lt1>
        <a:srgbClr val="FFFFFF"/>
      </a:lt1>
      <a:dk2>
        <a:srgbClr val="75737D"/>
      </a:dk2>
      <a:lt2>
        <a:srgbClr val="3756A6"/>
      </a:lt2>
      <a:accent1>
        <a:srgbClr val="DF8339"/>
      </a:accent1>
      <a:accent2>
        <a:srgbClr val="3D88C2"/>
      </a:accent2>
      <a:accent3>
        <a:srgbClr val="0E1422"/>
      </a:accent3>
      <a:accent4>
        <a:srgbClr val="3756A6"/>
      </a:accent4>
      <a:accent5>
        <a:srgbClr val="EFE9F3"/>
      </a:accent5>
      <a:accent6>
        <a:srgbClr val="7FD07D"/>
      </a:accent6>
      <a:hlink>
        <a:srgbClr val="1A1628"/>
      </a:hlink>
      <a:folHlink>
        <a:srgbClr val="005F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spcAft>
            <a:spcPts val="0"/>
          </a:spcAft>
          <a:defRPr sz="18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miter lim="800000"/>
        </a:ln>
      </a:spPr>
      <a:bodyPr wrap="none" lIns="0" tIns="0" rIns="0" bIns="0" rtlCol="0">
        <a:noAutofit/>
      </a:bodyPr>
      <a:lstStyle>
        <a:defPPr algn="l">
          <a:spcBef>
            <a:spcPts val="600"/>
          </a:spcBef>
          <a:spcAft>
            <a:spcPts val="0"/>
          </a:spcAft>
          <a:defRPr sz="1800"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Purple">
      <a:srgbClr val="8F5AFF"/>
    </a:custClr>
    <a:custClr name="80% Gray">
      <a:srgbClr val="474554"/>
    </a:custClr>
    <a:custClr name="60% Gray">
      <a:srgbClr val="75737D"/>
    </a:custClr>
    <a:custClr name="40% Gray">
      <a:srgbClr val="A3A1A8"/>
    </a:custClr>
    <a:custClr name="20% Gray">
      <a:srgbClr val="D1D0D4"/>
    </a:custClr>
    <a:custClr name="Light Gray">
      <a:srgbClr val="F4F3F3"/>
    </a:custClr>
  </a:custClrLst>
  <a:extLst>
    <a:ext uri="{05A4C25C-085E-4340-85A3-A5531E510DB2}">
      <thm15:themeFamily xmlns:thm15="http://schemas.microsoft.com/office/thememl/2012/main" name="ZS PPT 16x9" id="{23E6B796-D66E-4871-84BA-FC6C42EB6A49}" vid="{EFA283CE-B6C6-4E3D-9693-81FFE38B810E}"/>
    </a:ext>
  </a:extLst>
</a:theme>
</file>

<file path=ppt/theme/theme2.xml><?xml version="1.0" encoding="utf-8"?>
<a:theme xmlns:a="http://schemas.openxmlformats.org/drawingml/2006/main" name="ZS PPT 16x9">
  <a:themeElements>
    <a:clrScheme name="Custom 1">
      <a:dk1>
        <a:srgbClr val="000000"/>
      </a:dk1>
      <a:lt1>
        <a:srgbClr val="FFFFFF"/>
      </a:lt1>
      <a:dk2>
        <a:srgbClr val="75737D"/>
      </a:dk2>
      <a:lt2>
        <a:srgbClr val="3756A6"/>
      </a:lt2>
      <a:accent1>
        <a:srgbClr val="DF8339"/>
      </a:accent1>
      <a:accent2>
        <a:srgbClr val="3D88C2"/>
      </a:accent2>
      <a:accent3>
        <a:srgbClr val="0E1422"/>
      </a:accent3>
      <a:accent4>
        <a:srgbClr val="3756A6"/>
      </a:accent4>
      <a:accent5>
        <a:srgbClr val="EFE9F3"/>
      </a:accent5>
      <a:accent6>
        <a:srgbClr val="7FD07D"/>
      </a:accent6>
      <a:hlink>
        <a:srgbClr val="1A1628"/>
      </a:hlink>
      <a:folHlink>
        <a:srgbClr val="005FE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spcAft>
            <a:spcPts val="0"/>
          </a:spcAft>
          <a:defRPr sz="18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miter lim="800000"/>
        </a:ln>
      </a:spPr>
      <a:bodyPr wrap="none" lIns="0" tIns="0" rIns="0" bIns="0" rtlCol="0">
        <a:noAutofit/>
      </a:bodyPr>
      <a:lstStyle>
        <a:defPPr algn="l">
          <a:spcBef>
            <a:spcPts val="600"/>
          </a:spcBef>
          <a:spcAft>
            <a:spcPts val="0"/>
          </a:spcAft>
          <a:defRPr sz="1800"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Purple">
      <a:srgbClr val="8F5AFF"/>
    </a:custClr>
    <a:custClr name="80% Gray">
      <a:srgbClr val="474554"/>
    </a:custClr>
    <a:custClr name="60% Gray">
      <a:srgbClr val="75737D"/>
    </a:custClr>
    <a:custClr name="40% Gray">
      <a:srgbClr val="A3A1A8"/>
    </a:custClr>
    <a:custClr name="20% Gray">
      <a:srgbClr val="D1D0D4"/>
    </a:custClr>
    <a:custClr name="Light Gray">
      <a:srgbClr val="F4F3F3"/>
    </a:custClr>
  </a:custClrLst>
  <a:extLst>
    <a:ext uri="{05A4C25C-085E-4340-85A3-A5531E510DB2}">
      <thm15:themeFamily xmlns:thm15="http://schemas.microsoft.com/office/thememl/2012/main" name="ZS PPT 16x9" id="{23E6B796-D66E-4871-84BA-FC6C42EB6A49}" vid="{EFA283CE-B6C6-4E3D-9693-81FFE38B810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9332</TotalTime>
  <Words>547</Words>
  <Application>Microsoft Office PowerPoint</Application>
  <PresentationFormat>Widescreen</PresentationFormat>
  <Paragraphs>90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Wingdings 2</vt:lpstr>
      <vt:lpstr>2_ZS PPT 16x9</vt:lpstr>
      <vt:lpstr>ZS PPT 16x9</vt:lpstr>
      <vt:lpstr>PowerPoint Presentation</vt:lpstr>
      <vt:lpstr>Operational Observations &amp; Impact on Deployment</vt:lpstr>
      <vt:lpstr>ROI Snapshot</vt:lpstr>
      <vt:lpstr>ROI Impact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Axestrack Introduction &amp; Capabilities Overview</dc:title>
  <dc:creator>Dilip Kumar Jangir</dc:creator>
  <cp:lastModifiedBy>Gagan Mathur</cp:lastModifiedBy>
  <cp:revision>394</cp:revision>
  <dcterms:created xsi:type="dcterms:W3CDTF">2024-07-02T08:02:09Z</dcterms:created>
  <dcterms:modified xsi:type="dcterms:W3CDTF">2025-12-01T13:12:45Z</dcterms:modified>
</cp:coreProperties>
</file>